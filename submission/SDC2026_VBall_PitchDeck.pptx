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8288000" cy="10287000"/>
  <p:notesSz cx="6858000" cy="9144000"/>
  <p:embeddedFontLst>
    <p:embeddedFont>
      <p:font typeface="Roboto Mono" charset="1" panose="00000000000000000000"/>
      <p:regular r:id="rId41"/>
    </p:embeddedFont>
    <p:embeddedFont>
      <p:font typeface="Instrument Serif" charset="1" panose="00000000000000000000"/>
      <p:regular r:id="rId42"/>
    </p:embeddedFont>
    <p:embeddedFont>
      <p:font typeface="Instrument Serif Italics" charset="1" panose="00000000000000000000"/>
      <p:regular r:id="rId43"/>
    </p:embeddedFont>
    <p:embeddedFont>
      <p:font typeface="Arimo" charset="1" panose="020B0604020202020204"/>
      <p:regular r:id="rId44"/>
    </p:embeddedFont>
    <p:embeddedFont>
      <p:font typeface="Arimo Bold" charset="1" panose="020B0704020202020204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A banquet hall lit with purple stage lights, dinner tables set in front of the stag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89" r="0" b="-929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14101F">
                    <a:alpha val="97000"/>
                  </a:srgbClr>
                </a:gs>
                <a:gs pos="46000">
                  <a:srgbClr val="14101F">
                    <a:alpha val="86000"/>
                  </a:srgbClr>
                </a:gs>
                <a:gs pos="100000">
                  <a:srgbClr val="14101F">
                    <a:alpha val="12000"/>
                  </a:srgbClr>
                </a:gs>
              </a:gsLst>
              <a:lin ang="0"/>
            </a:gra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19200" y="1171575"/>
            <a:ext cx="1632508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TEAM VBALL · SDC HACKATHON 2026 · FINAL ROUND · DOMAIN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801903"/>
            <a:ext cx="16325088" cy="204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0"/>
              </a:lnSpc>
            </a:pPr>
            <a:r>
              <a:rPr lang="en-US" sz="24750" spc="-599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SMErgers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5825138"/>
            <a:ext cx="11772900" cy="1389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Agreed on WhatsApp. Billed from memory.</a:t>
            </a:r>
          </a:p>
          <a:p>
            <a:pPr algn="l">
              <a:lnSpc>
                <a:spcPts val="5508"/>
              </a:lnSpc>
            </a:pPr>
            <a:r>
              <a:rPr lang="en-US" sz="5100" i="true">
                <a:solidFill>
                  <a:srgbClr val="FF5B2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Not any more.</a:t>
            </a:r>
          </a:p>
        </p:txBody>
      </p:sp>
      <p:sp>
        <p:nvSpPr>
          <p:cNvPr name="AutoShape 9" id="9"/>
          <p:cNvSpPr/>
          <p:nvPr/>
        </p:nvSpPr>
        <p:spPr>
          <a:xfrm rot="22740">
            <a:off x="1209646" y="7986712"/>
            <a:ext cx="2876617" cy="0"/>
          </a:xfrm>
          <a:prstGeom prst="line">
            <a:avLst/>
          </a:prstGeom>
          <a:ln cap="rnd" w="9525">
            <a:solidFill>
              <a:srgbClr val="F3EEE4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219200" y="8101965"/>
            <a:ext cx="294322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200" y="8564880"/>
            <a:ext cx="2943225" cy="54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20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Catch it</a:t>
            </a:r>
          </a:p>
        </p:txBody>
      </p:sp>
      <p:sp>
        <p:nvSpPr>
          <p:cNvPr name="AutoShape 12" id="12"/>
          <p:cNvSpPr/>
          <p:nvPr/>
        </p:nvSpPr>
        <p:spPr>
          <a:xfrm rot="22740">
            <a:off x="4524346" y="7986712"/>
            <a:ext cx="2876617" cy="0"/>
          </a:xfrm>
          <a:prstGeom prst="line">
            <a:avLst/>
          </a:prstGeom>
          <a:ln cap="rnd" w="9525">
            <a:solidFill>
              <a:srgbClr val="F3EEE4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4533900" y="8101965"/>
            <a:ext cx="294322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33900" y="8564880"/>
            <a:ext cx="2943225" cy="54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20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Confirm it</a:t>
            </a:r>
          </a:p>
        </p:txBody>
      </p:sp>
      <p:sp>
        <p:nvSpPr>
          <p:cNvPr name="AutoShape 15" id="15"/>
          <p:cNvSpPr/>
          <p:nvPr/>
        </p:nvSpPr>
        <p:spPr>
          <a:xfrm rot="22740">
            <a:off x="7839046" y="7986712"/>
            <a:ext cx="2876617" cy="0"/>
          </a:xfrm>
          <a:prstGeom prst="line">
            <a:avLst/>
          </a:prstGeom>
          <a:ln cap="rnd" w="9525">
            <a:solidFill>
              <a:srgbClr val="F3EEE4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7848600" y="8101965"/>
            <a:ext cx="294322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48600" y="8564880"/>
            <a:ext cx="2943225" cy="54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20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Sync it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48285" y="8351520"/>
            <a:ext cx="4120515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32"/>
              </a:lnSpc>
            </a:pPr>
            <a:r>
              <a:rPr lang="en-US" sz="1950">
                <a:solidFill>
                  <a:srgbClr val="CFC8E4"/>
                </a:solidFill>
                <a:latin typeface="Arimo"/>
                <a:ea typeface="Arimo"/>
                <a:cs typeface="Arimo"/>
                <a:sym typeface="Arimo"/>
              </a:rPr>
              <a:t>Orbyte Smart SME Challenge</a:t>
            </a:r>
          </a:p>
          <a:p>
            <a:pPr algn="r">
              <a:lnSpc>
                <a:spcPts val="2632"/>
              </a:lnSpc>
            </a:pPr>
            <a:r>
              <a:rPr lang="en-US" sz="1950">
                <a:solidFill>
                  <a:srgbClr val="CFC8E4"/>
                </a:solidFill>
                <a:latin typeface="Arimo"/>
                <a:ea typeface="Arimo"/>
                <a:cs typeface="Arimo"/>
                <a:sym typeface="Arimo"/>
              </a:rPr>
              <a:t>SDG 8.2 · 8.3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A dark event hall with round dinner tables set under warm pendant lights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60" r="-1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4101F">
                <a:alpha val="8078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" y="1150620"/>
            <a:ext cx="152400" cy="152400"/>
            <a:chOff x="0" y="0"/>
            <a:chExt cx="203200" cy="203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24000" y="1019175"/>
            <a:ext cx="147218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9200" y="1863090"/>
            <a:ext cx="9143619" cy="208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0"/>
              </a:lnSpc>
            </a:pPr>
            <a:r>
              <a:rPr lang="en-US" sz="9000" spc="-15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Agreed on WhatsApp. </a:t>
            </a:r>
            <a:r>
              <a:rPr lang="en-US" sz="9000" i="true" spc="-150">
                <a:solidFill>
                  <a:srgbClr val="FF5B2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Lost at billing.</a:t>
            </a:r>
          </a:p>
        </p:txBody>
      </p:sp>
      <p:sp>
        <p:nvSpPr>
          <p:cNvPr name="AutoShape 10" id="10"/>
          <p:cNvSpPr/>
          <p:nvPr/>
        </p:nvSpPr>
        <p:spPr>
          <a:xfrm rot="8340">
            <a:off x="1209665" y="5775484"/>
            <a:ext cx="7829569" cy="0"/>
          </a:xfrm>
          <a:prstGeom prst="line">
            <a:avLst/>
          </a:prstGeom>
          <a:ln cap="rnd" w="9525">
            <a:solidFill>
              <a:srgbClr val="F3EEE4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19200" y="5995511"/>
            <a:ext cx="45720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09750" y="5909786"/>
            <a:ext cx="5676710" cy="50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150">
                <a:solidFill>
                  <a:srgbClr val="F3EEE4"/>
                </a:solidFill>
                <a:latin typeface="Arimo"/>
                <a:ea typeface="Arimo"/>
                <a:cs typeface="Arimo"/>
                <a:sym typeface="Arimo"/>
              </a:rPr>
              <a:t>The client asks in the chat.</a:t>
            </a:r>
          </a:p>
        </p:txBody>
      </p:sp>
      <p:sp>
        <p:nvSpPr>
          <p:cNvPr name="AutoShape 13" id="13"/>
          <p:cNvSpPr/>
          <p:nvPr/>
        </p:nvSpPr>
        <p:spPr>
          <a:xfrm rot="8340">
            <a:off x="1209665" y="6556534"/>
            <a:ext cx="7829569" cy="0"/>
          </a:xfrm>
          <a:prstGeom prst="line">
            <a:avLst/>
          </a:prstGeom>
          <a:ln cap="rnd" w="9525">
            <a:solidFill>
              <a:srgbClr val="F3EEE4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219200" y="6776561"/>
            <a:ext cx="45720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09750" y="6690836"/>
            <a:ext cx="4049792" cy="50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150">
                <a:solidFill>
                  <a:srgbClr val="F3EEE4"/>
                </a:solidFill>
                <a:latin typeface="Arimo"/>
                <a:ea typeface="Arimo"/>
                <a:cs typeface="Arimo"/>
                <a:sym typeface="Arimo"/>
              </a:rPr>
              <a:t>The team says yes.</a:t>
            </a:r>
          </a:p>
        </p:txBody>
      </p:sp>
      <p:sp>
        <p:nvSpPr>
          <p:cNvPr name="AutoShape 16" id="16"/>
          <p:cNvSpPr/>
          <p:nvPr/>
        </p:nvSpPr>
        <p:spPr>
          <a:xfrm rot="8340">
            <a:off x="1209665" y="7337584"/>
            <a:ext cx="7829569" cy="0"/>
          </a:xfrm>
          <a:prstGeom prst="line">
            <a:avLst/>
          </a:prstGeom>
          <a:ln cap="rnd" w="9525">
            <a:solidFill>
              <a:srgbClr val="F3EEE4">
                <a:alpha val="2470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219200" y="7557611"/>
            <a:ext cx="45720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09750" y="7471886"/>
            <a:ext cx="7219950" cy="50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150">
                <a:solidFill>
                  <a:srgbClr val="F3EEE4"/>
                </a:solidFill>
                <a:latin typeface="Arimo"/>
                <a:ea typeface="Arimo"/>
                <a:cs typeface="Arimo"/>
                <a:sym typeface="Arimo"/>
              </a:rPr>
              <a:t>The signed quote is never updated.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9200" y="8275796"/>
            <a:ext cx="9123998" cy="52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2"/>
              </a:lnSpc>
            </a:pPr>
            <a:r>
              <a:rPr lang="en-US" sz="390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So the extras are billed from memory, </a:t>
            </a:r>
            <a:r>
              <a:rPr lang="en-US" sz="3900" i="true">
                <a:solidFill>
                  <a:srgbClr val="FF5B2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or not at all.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782300" y="1066800"/>
            <a:ext cx="6286500" cy="7696200"/>
            <a:chOff x="0" y="0"/>
            <a:chExt cx="8382000" cy="1026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82000" cy="10261600"/>
            </a:xfrm>
            <a:custGeom>
              <a:avLst/>
              <a:gdLst/>
              <a:ahLst/>
              <a:cxnLst/>
              <a:rect r="r" b="b" t="t" l="l"/>
              <a:pathLst>
                <a:path h="10261600" w="8382000">
                  <a:moveTo>
                    <a:pt x="0" y="445897"/>
                  </a:moveTo>
                  <a:cubicBezTo>
                    <a:pt x="0" y="199644"/>
                    <a:pt x="199644" y="0"/>
                    <a:pt x="445897" y="0"/>
                  </a:cubicBezTo>
                  <a:lnTo>
                    <a:pt x="7936103" y="0"/>
                  </a:lnTo>
                  <a:cubicBezTo>
                    <a:pt x="8182356" y="0"/>
                    <a:pt x="8382000" y="199644"/>
                    <a:pt x="8382000" y="445897"/>
                  </a:cubicBezTo>
                  <a:lnTo>
                    <a:pt x="8382000" y="9815703"/>
                  </a:lnTo>
                  <a:cubicBezTo>
                    <a:pt x="8382000" y="10061956"/>
                    <a:pt x="8182356" y="10261600"/>
                    <a:pt x="7936103" y="10261600"/>
                  </a:cubicBezTo>
                  <a:lnTo>
                    <a:pt x="445897" y="10261600"/>
                  </a:lnTo>
                  <a:cubicBezTo>
                    <a:pt x="199644" y="10261600"/>
                    <a:pt x="0" y="10061956"/>
                    <a:pt x="0" y="9815703"/>
                  </a:cubicBezTo>
                  <a:close/>
                </a:path>
              </a:pathLst>
            </a:custGeom>
            <a:solidFill>
              <a:srgbClr val="241C3B"/>
            </a:solidFill>
            <a:ln w="19050" cap="sq">
              <a:solidFill>
                <a:srgbClr val="3A2F5E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1140440" y="1339215"/>
            <a:ext cx="573732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9">
                <a:solidFill>
                  <a:srgbClr val="A59DC0"/>
                </a:solidFill>
                <a:latin typeface="Roboto Mono"/>
                <a:ea typeface="Roboto Mono"/>
                <a:cs typeface="Roboto Mono"/>
                <a:sym typeface="Roboto Mono"/>
              </a:rPr>
              <a:t>Annual Dinner · WhatsApp group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140440" y="2134314"/>
            <a:ext cx="5334000" cy="1600200"/>
            <a:chOff x="0" y="0"/>
            <a:chExt cx="7112000" cy="2133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120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7112000">
                  <a:moveTo>
                    <a:pt x="355600" y="0"/>
                  </a:moveTo>
                  <a:lnTo>
                    <a:pt x="6756400" y="0"/>
                  </a:lnTo>
                  <a:cubicBezTo>
                    <a:pt x="6952742" y="0"/>
                    <a:pt x="7112000" y="159258"/>
                    <a:pt x="7112000" y="355600"/>
                  </a:cubicBezTo>
                  <a:lnTo>
                    <a:pt x="7112000" y="1778000"/>
                  </a:lnTo>
                  <a:cubicBezTo>
                    <a:pt x="7112000" y="1974342"/>
                    <a:pt x="6952742" y="2133600"/>
                    <a:pt x="6756400" y="2133600"/>
                  </a:cubicBezTo>
                  <a:lnTo>
                    <a:pt x="76200" y="2133600"/>
                  </a:lnTo>
                  <a:cubicBezTo>
                    <a:pt x="34163" y="2133600"/>
                    <a:pt x="0" y="2099437"/>
                    <a:pt x="0" y="2057400"/>
                  </a:cubicBezTo>
                  <a:lnTo>
                    <a:pt x="0" y="355600"/>
                  </a:lnTo>
                  <a:cubicBezTo>
                    <a:pt x="0" y="159258"/>
                    <a:pt x="159258" y="0"/>
                    <a:pt x="355600" y="0"/>
                  </a:cubicBezTo>
                  <a:close/>
                </a:path>
              </a:pathLst>
            </a:custGeom>
            <a:solidFill>
              <a:srgbClr val="F3EEE4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407140" y="2277189"/>
            <a:ext cx="494461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Client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07140" y="2663904"/>
            <a:ext cx="4944618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The LED wall abit small la. Can we upgrade?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56887" y="4114448"/>
            <a:ext cx="573732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225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NEXT MORNING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376660" y="4909537"/>
            <a:ext cx="5334000" cy="1179195"/>
            <a:chOff x="0" y="0"/>
            <a:chExt cx="7112000" cy="15722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12000" cy="1572260"/>
            </a:xfrm>
            <a:custGeom>
              <a:avLst/>
              <a:gdLst/>
              <a:ahLst/>
              <a:cxnLst/>
              <a:rect r="r" b="b" t="t" l="l"/>
              <a:pathLst>
                <a:path h="1572260" w="7112000">
                  <a:moveTo>
                    <a:pt x="355600" y="0"/>
                  </a:moveTo>
                  <a:lnTo>
                    <a:pt x="6756400" y="0"/>
                  </a:lnTo>
                  <a:cubicBezTo>
                    <a:pt x="6952742" y="0"/>
                    <a:pt x="7112000" y="159258"/>
                    <a:pt x="7112000" y="355600"/>
                  </a:cubicBezTo>
                  <a:lnTo>
                    <a:pt x="7112000" y="1496060"/>
                  </a:lnTo>
                  <a:cubicBezTo>
                    <a:pt x="7112000" y="1538097"/>
                    <a:pt x="7077837" y="1572260"/>
                    <a:pt x="7035800" y="1572260"/>
                  </a:cubicBezTo>
                  <a:lnTo>
                    <a:pt x="355600" y="1572260"/>
                  </a:lnTo>
                  <a:cubicBezTo>
                    <a:pt x="159258" y="1572260"/>
                    <a:pt x="0" y="1413002"/>
                    <a:pt x="0" y="1216660"/>
                  </a:cubicBezTo>
                  <a:lnTo>
                    <a:pt x="0" y="355600"/>
                  </a:lnTo>
                  <a:cubicBezTo>
                    <a:pt x="0" y="159258"/>
                    <a:pt x="159258" y="0"/>
                    <a:pt x="355600" y="0"/>
                  </a:cubicBezTo>
                  <a:close/>
                </a:path>
              </a:pathLst>
            </a:custGeom>
            <a:solidFill>
              <a:srgbClr val="3D25B8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643360" y="5052412"/>
            <a:ext cx="494461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FC4FF"/>
                </a:solidFill>
                <a:latin typeface="Roboto Mono"/>
                <a:ea typeface="Roboto Mono"/>
                <a:cs typeface="Roboto Mono"/>
                <a:sym typeface="Roboto Mono"/>
              </a:rPr>
              <a:t>Team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43360" y="5439127"/>
            <a:ext cx="4944618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Can! 4m x 2.5m. RM1,100 more.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140440" y="6516291"/>
            <a:ext cx="5334000" cy="1179195"/>
            <a:chOff x="0" y="0"/>
            <a:chExt cx="7112000" cy="15722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12000" cy="1572260"/>
            </a:xfrm>
            <a:custGeom>
              <a:avLst/>
              <a:gdLst/>
              <a:ahLst/>
              <a:cxnLst/>
              <a:rect r="r" b="b" t="t" l="l"/>
              <a:pathLst>
                <a:path h="1572260" w="7112000">
                  <a:moveTo>
                    <a:pt x="355600" y="0"/>
                  </a:moveTo>
                  <a:lnTo>
                    <a:pt x="6756400" y="0"/>
                  </a:lnTo>
                  <a:cubicBezTo>
                    <a:pt x="6952742" y="0"/>
                    <a:pt x="7112000" y="159258"/>
                    <a:pt x="7112000" y="355600"/>
                  </a:cubicBezTo>
                  <a:lnTo>
                    <a:pt x="7112000" y="1216660"/>
                  </a:lnTo>
                  <a:cubicBezTo>
                    <a:pt x="7112000" y="1413002"/>
                    <a:pt x="6952742" y="1572260"/>
                    <a:pt x="6756400" y="1572260"/>
                  </a:cubicBezTo>
                  <a:lnTo>
                    <a:pt x="76200" y="1572260"/>
                  </a:lnTo>
                  <a:cubicBezTo>
                    <a:pt x="34163" y="1572260"/>
                    <a:pt x="0" y="1538097"/>
                    <a:pt x="0" y="1496060"/>
                  </a:cubicBezTo>
                  <a:lnTo>
                    <a:pt x="0" y="355600"/>
                  </a:lnTo>
                  <a:cubicBezTo>
                    <a:pt x="0" y="159258"/>
                    <a:pt x="159258" y="0"/>
                    <a:pt x="355600" y="0"/>
                  </a:cubicBezTo>
                  <a:close/>
                </a:path>
              </a:pathLst>
            </a:custGeom>
            <a:solidFill>
              <a:srgbClr val="F3EEE4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407140" y="6659166"/>
            <a:ext cx="494461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Client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07140" y="7045881"/>
            <a:ext cx="4944618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Ok, go ahead.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56887" y="8075295"/>
            <a:ext cx="573732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A59DC0"/>
                </a:solidFill>
                <a:latin typeface="Roboto Mono"/>
                <a:ea typeface="Roboto Mono"/>
                <a:cs typeface="Roboto Mono"/>
                <a:sym typeface="Roboto Mono"/>
              </a:rPr>
              <a:t>Billing day: where is that RM1,100?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9200" y="932116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A59DC0"/>
                </a:solidFill>
                <a:latin typeface="Arimo"/>
                <a:ea typeface="Arimo"/>
                <a:cs typeface="Arimo"/>
                <a:sym typeface="Arimo"/>
              </a:rPr>
              <a:t>Illustrative example: a synthetic dinner job, written from a team member’s experience at an event company.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59DC0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2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925372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SURVEY · 7 EVENT PROFESSIONALS · 5 COMPANIES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58315"/>
            <a:ext cx="16325088" cy="57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spc="-75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We surveyed 7 event professionals </a:t>
            </a:r>
            <a:r>
              <a:rPr lang="en-US" sz="4800" i="true" spc="-75">
                <a:solidFill>
                  <a:srgbClr val="3D25B8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at 5 companies.</a:t>
            </a:r>
          </a:p>
        </p:txBody>
      </p:sp>
      <p:sp>
        <p:nvSpPr>
          <p:cNvPr name="AutoShape 6" id="6"/>
          <p:cNvSpPr/>
          <p:nvPr/>
        </p:nvSpPr>
        <p:spPr>
          <a:xfrm rot="17040">
            <a:off x="1200102" y="2589609"/>
            <a:ext cx="7696295" cy="0"/>
          </a:xfrm>
          <a:prstGeom prst="line">
            <a:avLst/>
          </a:prstGeom>
          <a:ln cap="rnd" w="19050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219200" y="2703909"/>
            <a:ext cx="788784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9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WHERE CHANGES HAPPEN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3239214"/>
            <a:ext cx="2845117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WhatsApp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133850" y="3241119"/>
            <a:ext cx="3429000" cy="247650"/>
            <a:chOff x="0" y="0"/>
            <a:chExt cx="4572000" cy="330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72000" cy="330200"/>
            </a:xfrm>
            <a:custGeom>
              <a:avLst/>
              <a:gdLst/>
              <a:ahLst/>
              <a:cxnLst/>
              <a:rect r="r" b="b" t="t" l="l"/>
              <a:pathLst>
                <a:path h="330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6DFD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133850" y="3241119"/>
            <a:ext cx="3429000" cy="247650"/>
            <a:chOff x="0" y="0"/>
            <a:chExt cx="4572000" cy="330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72000" cy="330200"/>
            </a:xfrm>
            <a:custGeom>
              <a:avLst/>
              <a:gdLst/>
              <a:ahLst/>
              <a:cxnLst/>
              <a:rect r="r" b="b" t="t" l="l"/>
              <a:pathLst>
                <a:path h="330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639050" y="3157299"/>
            <a:ext cx="8763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9200" y="3692604"/>
            <a:ext cx="2845117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Phone or in person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133850" y="3694509"/>
            <a:ext cx="3429000" cy="247650"/>
            <a:chOff x="0" y="0"/>
            <a:chExt cx="4572000" cy="330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72000" cy="330200"/>
            </a:xfrm>
            <a:custGeom>
              <a:avLst/>
              <a:gdLst/>
              <a:ahLst/>
              <a:cxnLst/>
              <a:rect r="r" b="b" t="t" l="l"/>
              <a:pathLst>
                <a:path h="330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6DFD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133850" y="3694509"/>
            <a:ext cx="1952625" cy="247650"/>
            <a:chOff x="0" y="0"/>
            <a:chExt cx="2603500" cy="33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03500" cy="330200"/>
            </a:xfrm>
            <a:custGeom>
              <a:avLst/>
              <a:gdLst/>
              <a:ahLst/>
              <a:cxnLst/>
              <a:rect r="r" b="b" t="t" l="l"/>
              <a:pathLst>
                <a:path h="330200" w="2603500">
                  <a:moveTo>
                    <a:pt x="0" y="0"/>
                  </a:moveTo>
                  <a:lnTo>
                    <a:pt x="2603500" y="0"/>
                  </a:lnTo>
                  <a:lnTo>
                    <a:pt x="26035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3D25B8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639050" y="3610689"/>
            <a:ext cx="8763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57%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9200" y="4145994"/>
            <a:ext cx="2845117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Email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133850" y="4147899"/>
            <a:ext cx="3429000" cy="247650"/>
            <a:chOff x="0" y="0"/>
            <a:chExt cx="4572000" cy="330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72000" cy="330200"/>
            </a:xfrm>
            <a:custGeom>
              <a:avLst/>
              <a:gdLst/>
              <a:ahLst/>
              <a:cxnLst/>
              <a:rect r="r" b="b" t="t" l="l"/>
              <a:pathLst>
                <a:path h="330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6DFD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133850" y="4147899"/>
            <a:ext cx="990600" cy="247650"/>
            <a:chOff x="0" y="0"/>
            <a:chExt cx="1320800" cy="330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20800" cy="330200"/>
            </a:xfrm>
            <a:custGeom>
              <a:avLst/>
              <a:gdLst/>
              <a:ahLst/>
              <a:cxnLst/>
              <a:rect r="r" b="b" t="t" l="l"/>
              <a:pathLst>
                <a:path h="330200" w="1320800">
                  <a:moveTo>
                    <a:pt x="0" y="0"/>
                  </a:moveTo>
                  <a:lnTo>
                    <a:pt x="1320800" y="0"/>
                  </a:lnTo>
                  <a:lnTo>
                    <a:pt x="13208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3D25B8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639050" y="4064079"/>
            <a:ext cx="8763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29%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9200" y="4599384"/>
            <a:ext cx="2845117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Project software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133850" y="4601289"/>
            <a:ext cx="3429000" cy="247650"/>
            <a:chOff x="0" y="0"/>
            <a:chExt cx="4572000" cy="330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72000" cy="330200"/>
            </a:xfrm>
            <a:custGeom>
              <a:avLst/>
              <a:gdLst/>
              <a:ahLst/>
              <a:cxnLst/>
              <a:rect r="r" b="b" t="t" l="l"/>
              <a:pathLst>
                <a:path h="330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6DFD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133850" y="4601289"/>
            <a:ext cx="990600" cy="247650"/>
            <a:chOff x="0" y="0"/>
            <a:chExt cx="1320800" cy="330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20800" cy="330200"/>
            </a:xfrm>
            <a:custGeom>
              <a:avLst/>
              <a:gdLst/>
              <a:ahLst/>
              <a:cxnLst/>
              <a:rect r="r" b="b" t="t" l="l"/>
              <a:pathLst>
                <a:path h="330200" w="1320800">
                  <a:moveTo>
                    <a:pt x="0" y="0"/>
                  </a:moveTo>
                  <a:lnTo>
                    <a:pt x="1320800" y="0"/>
                  </a:lnTo>
                  <a:lnTo>
                    <a:pt x="13208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3D25B8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639050" y="4517469"/>
            <a:ext cx="8763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29%</a:t>
            </a:r>
          </a:p>
        </p:txBody>
      </p:sp>
      <p:sp>
        <p:nvSpPr>
          <p:cNvPr name="AutoShape 32" id="32"/>
          <p:cNvSpPr/>
          <p:nvPr/>
        </p:nvSpPr>
        <p:spPr>
          <a:xfrm rot="17040">
            <a:off x="9391602" y="2589609"/>
            <a:ext cx="7696295" cy="0"/>
          </a:xfrm>
          <a:prstGeom prst="line">
            <a:avLst/>
          </a:prstGeom>
          <a:ln cap="rnd" w="19050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9410700" y="2703909"/>
            <a:ext cx="788784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9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CLIENTS ADD EXTRAS AFTER SIGNING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10700" y="3239214"/>
            <a:ext cx="2845117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Almost every project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325350" y="3241119"/>
            <a:ext cx="3429000" cy="247650"/>
            <a:chOff x="0" y="0"/>
            <a:chExt cx="4572000" cy="330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72000" cy="330200"/>
            </a:xfrm>
            <a:custGeom>
              <a:avLst/>
              <a:gdLst/>
              <a:ahLst/>
              <a:cxnLst/>
              <a:rect r="r" b="b" t="t" l="l"/>
              <a:pathLst>
                <a:path h="330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6DFD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325350" y="3241119"/>
            <a:ext cx="1476375" cy="247650"/>
            <a:chOff x="0" y="0"/>
            <a:chExt cx="1968500" cy="330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68500" cy="330200"/>
            </a:xfrm>
            <a:custGeom>
              <a:avLst/>
              <a:gdLst/>
              <a:ahLst/>
              <a:cxnLst/>
              <a:rect r="r" b="b" t="t" l="l"/>
              <a:pathLst>
                <a:path h="330200" w="1968500">
                  <a:moveTo>
                    <a:pt x="0" y="0"/>
                  </a:moveTo>
                  <a:lnTo>
                    <a:pt x="1968500" y="0"/>
                  </a:lnTo>
                  <a:lnTo>
                    <a:pt x="19685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3D25B8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5830550" y="3157299"/>
            <a:ext cx="8763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43%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410700" y="3692604"/>
            <a:ext cx="2845117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Most projects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325350" y="3694509"/>
            <a:ext cx="3429000" cy="247650"/>
            <a:chOff x="0" y="0"/>
            <a:chExt cx="4572000" cy="330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72000" cy="330200"/>
            </a:xfrm>
            <a:custGeom>
              <a:avLst/>
              <a:gdLst/>
              <a:ahLst/>
              <a:cxnLst/>
              <a:rect r="r" b="b" t="t" l="l"/>
              <a:pathLst>
                <a:path h="330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6DFD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325350" y="3694509"/>
            <a:ext cx="990600" cy="247650"/>
            <a:chOff x="0" y="0"/>
            <a:chExt cx="1320800" cy="330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20800" cy="330200"/>
            </a:xfrm>
            <a:custGeom>
              <a:avLst/>
              <a:gdLst/>
              <a:ahLst/>
              <a:cxnLst/>
              <a:rect r="r" b="b" t="t" l="l"/>
              <a:pathLst>
                <a:path h="330200" w="1320800">
                  <a:moveTo>
                    <a:pt x="0" y="0"/>
                  </a:moveTo>
                  <a:lnTo>
                    <a:pt x="1320800" y="0"/>
                  </a:lnTo>
                  <a:lnTo>
                    <a:pt x="13208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3D25B8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5830550" y="3610689"/>
            <a:ext cx="8763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29%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410700" y="4145994"/>
            <a:ext cx="2845117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Some projects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2325350" y="4147899"/>
            <a:ext cx="3429000" cy="247650"/>
            <a:chOff x="0" y="0"/>
            <a:chExt cx="4572000" cy="330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72000" cy="330200"/>
            </a:xfrm>
            <a:custGeom>
              <a:avLst/>
              <a:gdLst/>
              <a:ahLst/>
              <a:cxnLst/>
              <a:rect r="r" b="b" t="t" l="l"/>
              <a:pathLst>
                <a:path h="330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6DFD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325350" y="4147899"/>
            <a:ext cx="990600" cy="247650"/>
            <a:chOff x="0" y="0"/>
            <a:chExt cx="1320800" cy="330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20800" cy="330200"/>
            </a:xfrm>
            <a:custGeom>
              <a:avLst/>
              <a:gdLst/>
              <a:ahLst/>
              <a:cxnLst/>
              <a:rect r="r" b="b" t="t" l="l"/>
              <a:pathLst>
                <a:path h="330200" w="1320800">
                  <a:moveTo>
                    <a:pt x="0" y="0"/>
                  </a:moveTo>
                  <a:lnTo>
                    <a:pt x="1320800" y="0"/>
                  </a:lnTo>
                  <a:lnTo>
                    <a:pt x="13208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3D25B8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5830550" y="4064079"/>
            <a:ext cx="8763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29%</a:t>
            </a:r>
          </a:p>
        </p:txBody>
      </p:sp>
      <p:sp>
        <p:nvSpPr>
          <p:cNvPr name="AutoShape 52" id="52"/>
          <p:cNvSpPr/>
          <p:nvPr/>
        </p:nvSpPr>
        <p:spPr>
          <a:xfrm rot="17040">
            <a:off x="1200102" y="5180409"/>
            <a:ext cx="7696295" cy="0"/>
          </a:xfrm>
          <a:prstGeom prst="line">
            <a:avLst/>
          </a:prstGeom>
          <a:ln cap="rnd" w="19050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3" id="53"/>
          <p:cNvSpPr txBox="true"/>
          <p:nvPr/>
        </p:nvSpPr>
        <p:spPr>
          <a:xfrm rot="0">
            <a:off x="1219200" y="5294709"/>
            <a:ext cx="788784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9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WHAT THEY ADD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19200" y="5830014"/>
            <a:ext cx="2845117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Headcount or quantity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4133850" y="5831919"/>
            <a:ext cx="3429000" cy="247650"/>
            <a:chOff x="0" y="0"/>
            <a:chExt cx="4572000" cy="330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572000" cy="330200"/>
            </a:xfrm>
            <a:custGeom>
              <a:avLst/>
              <a:gdLst/>
              <a:ahLst/>
              <a:cxnLst/>
              <a:rect r="r" b="b" t="t" l="l"/>
              <a:pathLst>
                <a:path h="330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6DFD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133850" y="5831919"/>
            <a:ext cx="2952750" cy="247650"/>
            <a:chOff x="0" y="0"/>
            <a:chExt cx="3937000" cy="330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937000" cy="330200"/>
            </a:xfrm>
            <a:custGeom>
              <a:avLst/>
              <a:gdLst/>
              <a:ahLst/>
              <a:cxnLst/>
              <a:rect r="r" b="b" t="t" l="l"/>
              <a:pathLst>
                <a:path h="330200" w="3937000">
                  <a:moveTo>
                    <a:pt x="0" y="0"/>
                  </a:moveTo>
                  <a:lnTo>
                    <a:pt x="3937000" y="0"/>
                  </a:lnTo>
                  <a:lnTo>
                    <a:pt x="3937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3D25B8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7639050" y="5748099"/>
            <a:ext cx="8763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86%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19200" y="6283404"/>
            <a:ext cx="2845117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Overtime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4133850" y="6285309"/>
            <a:ext cx="3429000" cy="247650"/>
            <a:chOff x="0" y="0"/>
            <a:chExt cx="4572000" cy="330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572000" cy="330200"/>
            </a:xfrm>
            <a:custGeom>
              <a:avLst/>
              <a:gdLst/>
              <a:ahLst/>
              <a:cxnLst/>
              <a:rect r="r" b="b" t="t" l="l"/>
              <a:pathLst>
                <a:path h="330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6DFD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4133850" y="6285309"/>
            <a:ext cx="2438400" cy="247650"/>
            <a:chOff x="0" y="0"/>
            <a:chExt cx="3251200" cy="3302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51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251200">
                  <a:moveTo>
                    <a:pt x="0" y="0"/>
                  </a:moveTo>
                  <a:lnTo>
                    <a:pt x="3251200" y="0"/>
                  </a:lnTo>
                  <a:lnTo>
                    <a:pt x="32512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3D25B8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7639050" y="6201489"/>
            <a:ext cx="8763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71%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19200" y="6736794"/>
            <a:ext cx="2845117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Equipment upgrades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4133850" y="6738699"/>
            <a:ext cx="3429000" cy="247650"/>
            <a:chOff x="0" y="0"/>
            <a:chExt cx="4572000" cy="330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572000" cy="330200"/>
            </a:xfrm>
            <a:custGeom>
              <a:avLst/>
              <a:gdLst/>
              <a:ahLst/>
              <a:cxnLst/>
              <a:rect r="r" b="b" t="t" l="l"/>
              <a:pathLst>
                <a:path h="330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6DFD0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4133850" y="6738699"/>
            <a:ext cx="2438400" cy="247650"/>
            <a:chOff x="0" y="0"/>
            <a:chExt cx="3251200" cy="3302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251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251200">
                  <a:moveTo>
                    <a:pt x="0" y="0"/>
                  </a:moveTo>
                  <a:lnTo>
                    <a:pt x="3251200" y="0"/>
                  </a:lnTo>
                  <a:lnTo>
                    <a:pt x="32512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3D25B8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7639050" y="6654879"/>
            <a:ext cx="8763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71%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19200" y="7190184"/>
            <a:ext cx="2845117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8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Urgent adds, no price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4133850" y="7192089"/>
            <a:ext cx="3429000" cy="247650"/>
            <a:chOff x="0" y="0"/>
            <a:chExt cx="4572000" cy="330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572000" cy="330200"/>
            </a:xfrm>
            <a:custGeom>
              <a:avLst/>
              <a:gdLst/>
              <a:ahLst/>
              <a:cxnLst/>
              <a:rect r="r" b="b" t="t" l="l"/>
              <a:pathLst>
                <a:path h="3302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6DFD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133850" y="7192089"/>
            <a:ext cx="1952625" cy="247650"/>
            <a:chOff x="0" y="0"/>
            <a:chExt cx="2603500" cy="3302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603500" cy="330200"/>
            </a:xfrm>
            <a:custGeom>
              <a:avLst/>
              <a:gdLst/>
              <a:ahLst/>
              <a:cxnLst/>
              <a:rect r="r" b="b" t="t" l="l"/>
              <a:pathLst>
                <a:path h="330200" w="2603500">
                  <a:moveTo>
                    <a:pt x="0" y="0"/>
                  </a:moveTo>
                  <a:lnTo>
                    <a:pt x="2603500" y="0"/>
                  </a:lnTo>
                  <a:lnTo>
                    <a:pt x="26035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3D25B8"/>
            </a:solid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7639050" y="7108269"/>
            <a:ext cx="8763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57%</a:t>
            </a:r>
          </a:p>
        </p:txBody>
      </p:sp>
      <p:sp>
        <p:nvSpPr>
          <p:cNvPr name="AutoShape 78" id="78"/>
          <p:cNvSpPr/>
          <p:nvPr/>
        </p:nvSpPr>
        <p:spPr>
          <a:xfrm rot="17040">
            <a:off x="9391602" y="5180409"/>
            <a:ext cx="7696295" cy="0"/>
          </a:xfrm>
          <a:prstGeom prst="line">
            <a:avLst/>
          </a:prstGeom>
          <a:ln cap="rnd" w="19050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9" id="79"/>
          <p:cNvSpPr txBox="true"/>
          <p:nvPr/>
        </p:nvSpPr>
        <p:spPr>
          <a:xfrm rot="0">
            <a:off x="9410700" y="5294709"/>
            <a:ext cx="788784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9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QUOTE VALUE LOST ON A TYPICAL JOB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9410700" y="5795724"/>
            <a:ext cx="2000250" cy="2000250"/>
            <a:chOff x="0" y="0"/>
            <a:chExt cx="2667000" cy="2667000"/>
          </a:xfrm>
        </p:grpSpPr>
        <p:sp>
          <p:nvSpPr>
            <p:cNvPr name="Freeform 81" id="81" descr="Quote value lost on a typical job with changes: 43 percent more than 15 percent, 29 percent 11 to 15 percent, 29 percent 6 to 10 percent"/>
            <p:cNvSpPr/>
            <p:nvPr/>
          </p:nvSpPr>
          <p:spPr>
            <a:xfrm flipH="false" flipV="false" rot="0">
              <a:off x="0" y="0"/>
              <a:ext cx="2667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677650" y="6020038"/>
            <a:ext cx="228600" cy="228600"/>
            <a:chOff x="0" y="0"/>
            <a:chExt cx="304800" cy="3048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3D25B8"/>
            </a:solid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2039600" y="5917168"/>
            <a:ext cx="461890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More than 15%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6657320" y="5926693"/>
            <a:ext cx="48768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43%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1677650" y="6454378"/>
            <a:ext cx="228600" cy="228600"/>
            <a:chOff x="0" y="0"/>
            <a:chExt cx="304800" cy="3048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88" id="88"/>
          <p:cNvSpPr txBox="true"/>
          <p:nvPr/>
        </p:nvSpPr>
        <p:spPr>
          <a:xfrm rot="0">
            <a:off x="12039600" y="6351508"/>
            <a:ext cx="461890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11 to 15%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6657320" y="6361033"/>
            <a:ext cx="48768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29%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11677650" y="6888718"/>
            <a:ext cx="228600" cy="228600"/>
            <a:chOff x="0" y="0"/>
            <a:chExt cx="304800" cy="3048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B8A6FF"/>
            </a:solidFill>
          </p:spPr>
        </p:sp>
      </p:grpSp>
      <p:sp>
        <p:nvSpPr>
          <p:cNvPr name="TextBox 92" id="92"/>
          <p:cNvSpPr txBox="true"/>
          <p:nvPr/>
        </p:nvSpPr>
        <p:spPr>
          <a:xfrm rot="0">
            <a:off x="12039600" y="6785848"/>
            <a:ext cx="461890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6 to 10%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6657320" y="6795373"/>
            <a:ext cx="48768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29%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1677650" y="7315438"/>
            <a:ext cx="5552884" cy="340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550" i="true">
                <a:solidFill>
                  <a:srgbClr val="C93A0B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Nobody said under 6%.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19200" y="932116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Survey of 7 people at 5 event companies, 31 Oct 2026. Our network, self-reported estimates, small sample. Table: docs/survey.md.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5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2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147218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815465"/>
            <a:ext cx="16325088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0"/>
              </a:lnSpc>
            </a:pPr>
            <a:r>
              <a:rPr lang="en-US" sz="9000" spc="-74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Where the money disappears</a:t>
            </a:r>
          </a:p>
        </p:txBody>
      </p:sp>
      <p:sp>
        <p:nvSpPr>
          <p:cNvPr name="AutoShape 6" id="6"/>
          <p:cNvSpPr/>
          <p:nvPr/>
        </p:nvSpPr>
        <p:spPr>
          <a:xfrm rot="43920">
            <a:off x="1200026" y="3727847"/>
            <a:ext cx="2983478" cy="0"/>
          </a:xfrm>
          <a:prstGeom prst="line">
            <a:avLst/>
          </a:prstGeom>
          <a:ln cap="rnd" w="19050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219200" y="3908822"/>
            <a:ext cx="2817647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25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4417457"/>
            <a:ext cx="2817647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70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Quote signed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9200" y="5369957"/>
            <a:ext cx="2817647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RM34,530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9200" y="5970032"/>
            <a:ext cx="2817647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B130A"/>
                </a:solidFill>
                <a:latin typeface="Arimo"/>
                <a:ea typeface="Arimo"/>
                <a:cs typeface="Arimo"/>
                <a:sym typeface="Arimo"/>
              </a:rPr>
              <a:t>Sample dinner quote, 180 guests</a:t>
            </a:r>
          </a:p>
        </p:txBody>
      </p:sp>
      <p:sp>
        <p:nvSpPr>
          <p:cNvPr name="AutoShape 11" id="11"/>
          <p:cNvSpPr/>
          <p:nvPr/>
        </p:nvSpPr>
        <p:spPr>
          <a:xfrm rot="43920">
            <a:off x="4373756" y="3727847"/>
            <a:ext cx="2983478" cy="0"/>
          </a:xfrm>
          <a:prstGeom prst="line">
            <a:avLst/>
          </a:prstGeom>
          <a:ln cap="rnd" w="19050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392930" y="3908822"/>
            <a:ext cx="2817647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25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92930" y="4417457"/>
            <a:ext cx="2817647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70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Changes in WhatsApp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92930" y="5398532"/>
            <a:ext cx="281764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3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100%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92930" y="6160532"/>
            <a:ext cx="2817647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B130A"/>
                </a:solidFill>
                <a:latin typeface="Arimo"/>
                <a:ea typeface="Arimo"/>
                <a:cs typeface="Arimo"/>
                <a:sym typeface="Arimo"/>
              </a:rPr>
              <a:t>of the 7 we asked run their changes in WhatsApp</a:t>
            </a:r>
          </a:p>
        </p:txBody>
      </p:sp>
      <p:sp>
        <p:nvSpPr>
          <p:cNvPr name="AutoShape 16" id="16"/>
          <p:cNvSpPr/>
          <p:nvPr/>
        </p:nvSpPr>
        <p:spPr>
          <a:xfrm rot="43920">
            <a:off x="7547486" y="3727847"/>
            <a:ext cx="2983478" cy="0"/>
          </a:xfrm>
          <a:prstGeom prst="line">
            <a:avLst/>
          </a:prstGeom>
          <a:ln cap="rnd" w="19050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7566660" y="3908822"/>
            <a:ext cx="2817647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25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66660" y="4417457"/>
            <a:ext cx="294513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70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Bill from memory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66660" y="5398532"/>
            <a:ext cx="281764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3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57%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66660" y="6160532"/>
            <a:ext cx="2817647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B130A"/>
                </a:solidFill>
                <a:latin typeface="Arimo"/>
                <a:ea typeface="Arimo"/>
                <a:cs typeface="Arimo"/>
                <a:sym typeface="Arimo"/>
              </a:rPr>
              <a:t>scroll back through weeks of chat to find them</a:t>
            </a:r>
          </a:p>
        </p:txBody>
      </p:sp>
      <p:sp>
        <p:nvSpPr>
          <p:cNvPr name="AutoShape 21" id="21"/>
          <p:cNvSpPr/>
          <p:nvPr/>
        </p:nvSpPr>
        <p:spPr>
          <a:xfrm rot="43920">
            <a:off x="10721216" y="3727847"/>
            <a:ext cx="2983478" cy="0"/>
          </a:xfrm>
          <a:prstGeom prst="line">
            <a:avLst/>
          </a:prstGeom>
          <a:ln cap="rnd" w="19050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0740390" y="3908822"/>
            <a:ext cx="2817647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25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40390" y="4417457"/>
            <a:ext cx="2817647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70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“I never agreed.”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40390" y="5312807"/>
            <a:ext cx="2817647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“…their boss doesn’t admit and doesn’t want to pay.”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40390" y="6617732"/>
            <a:ext cx="294513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B130A"/>
                </a:solidFill>
                <a:latin typeface="Arimo"/>
                <a:ea typeface="Arimo"/>
                <a:cs typeface="Arimo"/>
                <a:sym typeface="Arimo"/>
              </a:rPr>
              <a:t>Owner, 100+ jobs a year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914120" y="3718322"/>
            <a:ext cx="3154680" cy="3446145"/>
            <a:chOff x="0" y="0"/>
            <a:chExt cx="4206240" cy="45948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06240" cy="4594860"/>
            </a:xfrm>
            <a:custGeom>
              <a:avLst/>
              <a:gdLst/>
              <a:ahLst/>
              <a:cxnLst/>
              <a:rect r="r" b="b" t="t" l="l"/>
              <a:pathLst>
                <a:path h="45948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4594860"/>
                  </a:lnTo>
                  <a:lnTo>
                    <a:pt x="0" y="4594860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4123670" y="3908822"/>
            <a:ext cx="2817647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25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123670" y="4417457"/>
            <a:ext cx="2817647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700" b="true">
                <a:solidFill>
                  <a:srgbClr val="F3EEE4"/>
                </a:solidFill>
                <a:latin typeface="Arimo Bold"/>
                <a:ea typeface="Arimo Bold"/>
                <a:cs typeface="Arimo Bold"/>
                <a:sym typeface="Arimo Bold"/>
              </a:rPr>
              <a:t>Owner gives in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23670" y="5398532"/>
            <a:ext cx="281764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30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71%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23670" y="6160532"/>
            <a:ext cx="2817647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lose 11% or more of a typical job’s value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9200" y="8111138"/>
            <a:ext cx="16325088" cy="68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100" spc="-75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Nobody is careless. The agreement just lives in </a:t>
            </a:r>
            <a:r>
              <a:rPr lang="en-US" sz="5100" i="true" spc="-75">
                <a:solidFill>
                  <a:srgbClr val="14101F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a chat, not a system.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9200" y="932116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4A1A0C"/>
                </a:solidFill>
                <a:latin typeface="Arimo"/>
                <a:ea typeface="Arimo"/>
                <a:cs typeface="Arimo"/>
                <a:sym typeface="Arimo"/>
              </a:rPr>
              <a:t>Survey of 7 people at 5 event companies, 31 Oct 2026, self-reported. The quote in step 1 is a sample.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A1A0C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32116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Public pages and search results, 21 Oct 2026. Partly = a limited form. × = not found, not proof it does not exist.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1152525"/>
            <a:ext cx="152400" cy="152400"/>
            <a:chOff x="0" y="0"/>
            <a:chExt cx="2032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24000" y="1021080"/>
            <a:ext cx="420624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Competitive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1790700"/>
            <a:ext cx="1632508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600" spc="-74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Nobody turns the chat into the bill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3288030"/>
            <a:ext cx="139217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CAN IT…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38850" y="2790825"/>
            <a:ext cx="217170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WhatsApp + memory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48650" y="2790825"/>
            <a:ext cx="2171700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Accounting apps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48650" y="3088005"/>
            <a:ext cx="21717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Bukku, AutoCount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58450" y="2790825"/>
            <a:ext cx="2171700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Event software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58450" y="3088005"/>
            <a:ext cx="21717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Rentman, Event Temple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68250" y="2790825"/>
            <a:ext cx="2171700" cy="35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Contractor tools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68250" y="3088005"/>
            <a:ext cx="21717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CoConstruct, Baukraft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4859000" y="2809875"/>
            <a:ext cx="2209800" cy="979170"/>
            <a:chOff x="0" y="0"/>
            <a:chExt cx="2946400" cy="1305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46400" cy="1305560"/>
            </a:xfrm>
            <a:custGeom>
              <a:avLst/>
              <a:gdLst/>
              <a:ahLst/>
              <a:cxnLst/>
              <a:rect r="r" b="b" t="t" l="l"/>
              <a:pathLst>
                <a:path h="1305560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14101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66675"/>
              <a:ext cx="2946400" cy="1238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600">
                  <a:solidFill>
                    <a:srgbClr val="F3EEE4"/>
                  </a:solidFill>
                  <a:latin typeface="Instrument Serif"/>
                  <a:ea typeface="Instrument Serif"/>
                  <a:cs typeface="Instrument Serif"/>
                  <a:sym typeface="Instrument Serif"/>
                </a:rPr>
                <a:t>SMErgers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2040">
            <a:off x="1214438" y="3789045"/>
            <a:ext cx="1585912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219200" y="4097655"/>
            <a:ext cx="494461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Read agreements from WhatsApp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58489" y="4097655"/>
            <a:ext cx="33230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9A93AE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68289" y="4097655"/>
            <a:ext cx="33230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9A93AE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78089" y="4097655"/>
            <a:ext cx="33230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9A93AE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20760" y="4053840"/>
            <a:ext cx="86668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C93A0B"/>
                </a:solidFill>
                <a:latin typeface="Arimo Bold"/>
                <a:ea typeface="Arimo Bold"/>
                <a:cs typeface="Arimo Bold"/>
                <a:sym typeface="Arimo Bold"/>
              </a:rPr>
              <a:t>Partly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4859000" y="3792855"/>
            <a:ext cx="2209800" cy="990600"/>
            <a:chOff x="0" y="0"/>
            <a:chExt cx="2946400" cy="1320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464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697200" y="4021455"/>
            <a:ext cx="533400" cy="533400"/>
            <a:chOff x="0" y="0"/>
            <a:chExt cx="711200" cy="711200"/>
          </a:xfrm>
        </p:grpSpPr>
        <p:sp>
          <p:nvSpPr>
            <p:cNvPr name="Freeform 28" id="28" descr="Check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AutoShape 29" id="29"/>
          <p:cNvSpPr/>
          <p:nvPr/>
        </p:nvSpPr>
        <p:spPr>
          <a:xfrm rot="2040">
            <a:off x="1214438" y="4779645"/>
            <a:ext cx="1585912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1219200" y="5088255"/>
            <a:ext cx="494461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Match each change to the quote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58489" y="5088255"/>
            <a:ext cx="33230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9A93AE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68289" y="5088255"/>
            <a:ext cx="33230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9A93AE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110960" y="5044440"/>
            <a:ext cx="86668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C93A0B"/>
                </a:solidFill>
                <a:latin typeface="Arimo Bold"/>
                <a:ea typeface="Arimo Bold"/>
                <a:cs typeface="Arimo Bold"/>
                <a:sym typeface="Arimo Bold"/>
              </a:rPr>
              <a:t>Partly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525500" y="5050155"/>
            <a:ext cx="457200" cy="457200"/>
            <a:chOff x="0" y="0"/>
            <a:chExt cx="609600" cy="609600"/>
          </a:xfrm>
        </p:grpSpPr>
        <p:sp>
          <p:nvSpPr>
            <p:cNvPr name="Freeform 35" id="35" descr="Check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859000" y="4783455"/>
            <a:ext cx="2209800" cy="990600"/>
            <a:chOff x="0" y="0"/>
            <a:chExt cx="2946400" cy="1320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464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697200" y="5012055"/>
            <a:ext cx="533400" cy="533400"/>
            <a:chOff x="0" y="0"/>
            <a:chExt cx="711200" cy="711200"/>
          </a:xfrm>
        </p:grpSpPr>
        <p:sp>
          <p:nvSpPr>
            <p:cNvPr name="Freeform 39" id="39" descr="Check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AutoShape 40" id="40"/>
          <p:cNvSpPr/>
          <p:nvPr/>
        </p:nvSpPr>
        <p:spPr>
          <a:xfrm rot="2040">
            <a:off x="1214438" y="5770245"/>
            <a:ext cx="1585912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1219200" y="6078855"/>
            <a:ext cx="494461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Client confirms each change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958489" y="6078855"/>
            <a:ext cx="33230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9A93AE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68289" y="6078855"/>
            <a:ext cx="33230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9A93AE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110960" y="6035040"/>
            <a:ext cx="86668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C93A0B"/>
                </a:solidFill>
                <a:latin typeface="Arimo Bold"/>
                <a:ea typeface="Arimo Bold"/>
                <a:cs typeface="Arimo Bold"/>
                <a:sym typeface="Arimo Bold"/>
              </a:rPr>
              <a:t>Partly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3525500" y="6040755"/>
            <a:ext cx="457200" cy="457200"/>
            <a:chOff x="0" y="0"/>
            <a:chExt cx="609600" cy="609600"/>
          </a:xfrm>
        </p:grpSpPr>
        <p:sp>
          <p:nvSpPr>
            <p:cNvPr name="Freeform 46" id="46" descr="Check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859000" y="5774055"/>
            <a:ext cx="2209800" cy="990600"/>
            <a:chOff x="0" y="0"/>
            <a:chExt cx="2946400" cy="1320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9464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5697200" y="6002655"/>
            <a:ext cx="533400" cy="533400"/>
            <a:chOff x="0" y="0"/>
            <a:chExt cx="711200" cy="711200"/>
          </a:xfrm>
        </p:grpSpPr>
        <p:sp>
          <p:nvSpPr>
            <p:cNvPr name="Freeform 50" id="50" descr="Check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AutoShape 51" id="51"/>
          <p:cNvSpPr/>
          <p:nvPr/>
        </p:nvSpPr>
        <p:spPr>
          <a:xfrm rot="2040">
            <a:off x="1214438" y="6760845"/>
            <a:ext cx="1585912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2" id="52"/>
          <p:cNvSpPr txBox="true"/>
          <p:nvPr/>
        </p:nvSpPr>
        <p:spPr>
          <a:xfrm rot="0">
            <a:off x="1219200" y="7069455"/>
            <a:ext cx="494461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Post the new version to the group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958489" y="7069455"/>
            <a:ext cx="33230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9A93AE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168289" y="7069455"/>
            <a:ext cx="33230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9A93AE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378089" y="7069455"/>
            <a:ext cx="33230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9A93AE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587889" y="7069455"/>
            <a:ext cx="33230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9A93AE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4859000" y="6764655"/>
            <a:ext cx="2209800" cy="990600"/>
            <a:chOff x="0" y="0"/>
            <a:chExt cx="2946400" cy="1320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9464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5697200" y="6993255"/>
            <a:ext cx="533400" cy="533400"/>
            <a:chOff x="0" y="0"/>
            <a:chExt cx="711200" cy="711200"/>
          </a:xfrm>
        </p:grpSpPr>
        <p:sp>
          <p:nvSpPr>
            <p:cNvPr name="Freeform 60" id="60" descr="Check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AutoShape 61" id="61"/>
          <p:cNvSpPr/>
          <p:nvPr/>
        </p:nvSpPr>
        <p:spPr>
          <a:xfrm rot="2040">
            <a:off x="1214438" y="7751445"/>
            <a:ext cx="1585912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2" id="62"/>
          <p:cNvSpPr txBox="true"/>
          <p:nvPr/>
        </p:nvSpPr>
        <p:spPr>
          <a:xfrm rot="0">
            <a:off x="1219200" y="8060055"/>
            <a:ext cx="494461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Link each bill line to its chat proof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958489" y="8060055"/>
            <a:ext cx="33230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9A93AE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168289" y="8060055"/>
            <a:ext cx="33230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9A93AE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378089" y="8060055"/>
            <a:ext cx="33230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9A93AE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587889" y="8060055"/>
            <a:ext cx="33230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600">
                <a:solidFill>
                  <a:srgbClr val="9A93AE"/>
                </a:solidFill>
                <a:latin typeface="Arimo"/>
                <a:ea typeface="Arimo"/>
                <a:cs typeface="Arimo"/>
                <a:sym typeface="Arimo"/>
              </a:rPr>
              <a:t>×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4859000" y="7755255"/>
            <a:ext cx="2209800" cy="990600"/>
            <a:chOff x="0" y="0"/>
            <a:chExt cx="2946400" cy="1320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9464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320800"/>
                  </a:lnTo>
                  <a:lnTo>
                    <a:pt x="0" y="1320800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5697200" y="7983855"/>
            <a:ext cx="533400" cy="533400"/>
            <a:chOff x="0" y="0"/>
            <a:chExt cx="711200" cy="711200"/>
          </a:xfrm>
        </p:grpSpPr>
        <p:sp>
          <p:nvSpPr>
            <p:cNvPr name="Freeform 70" id="70" descr="Check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0"/>
                  </a:moveTo>
                  <a:lnTo>
                    <a:pt x="711200" y="0"/>
                  </a:lnTo>
                  <a:lnTo>
                    <a:pt x="7112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43952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2507"/>
            <a:ext cx="168249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887855"/>
            <a:ext cx="16325088" cy="103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9240" spc="-150">
                <a:solidFill>
                  <a:srgbClr val="B8A6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Catch it. </a:t>
            </a:r>
            <a:r>
              <a:rPr lang="en-US" sz="9240" i="true" spc="-150">
                <a:solidFill>
                  <a:srgbClr val="FF5B2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Confirm it.</a:t>
            </a:r>
            <a:r>
              <a:rPr lang="en-US" sz="9240" spc="-150">
                <a:solidFill>
                  <a:srgbClr val="B8A6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9240" spc="-15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Sync it.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1190620" y="3570576"/>
            <a:ext cx="5235535" cy="0"/>
          </a:xfrm>
          <a:prstGeom prst="line">
            <a:avLst/>
          </a:prstGeom>
          <a:ln cap="rnd" w="28575">
            <a:solidFill>
              <a:srgbClr val="B8A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219200" y="3719151"/>
            <a:ext cx="528468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99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CATCH IT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6549989" y="3570577"/>
            <a:ext cx="7915267" cy="6"/>
          </a:xfrm>
          <a:prstGeom prst="line">
            <a:avLst/>
          </a:prstGeom>
          <a:ln cap="rnd" w="28575">
            <a:solidFill>
              <a:srgbClr val="FF5B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6578565" y="3719151"/>
            <a:ext cx="8044815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99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CONFIRM IT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589082" y="3570576"/>
            <a:ext cx="2555804" cy="0"/>
          </a:xfrm>
          <a:prstGeom prst="line">
            <a:avLst/>
          </a:prstGeom>
          <a:ln cap="rnd" w="28575">
            <a:solidFill>
              <a:srgbClr val="F3EE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4617665" y="3719151"/>
            <a:ext cx="2527221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99">
                <a:solidFill>
                  <a:srgbClr val="F3EEE4"/>
                </a:solidFill>
                <a:latin typeface="Roboto Mono"/>
                <a:ea typeface="Roboto Mono"/>
                <a:cs typeface="Roboto Mono"/>
                <a:sym typeface="Roboto Mono"/>
              </a:rPr>
              <a:t>SYNC IT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19200" y="4389720"/>
            <a:ext cx="914400" cy="914400"/>
            <a:chOff x="0" y="0"/>
            <a:chExt cx="121920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B8A6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28750" y="4599270"/>
            <a:ext cx="495300" cy="495300"/>
            <a:chOff x="0" y="0"/>
            <a:chExt cx="660400" cy="660400"/>
          </a:xfrm>
        </p:grpSpPr>
        <p:sp>
          <p:nvSpPr>
            <p:cNvPr name="Freeform 15" id="15" descr="Chat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19200" y="5485095"/>
            <a:ext cx="2679621" cy="39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2550" b="true">
                <a:solidFill>
                  <a:srgbClr val="F3EEE4"/>
                </a:solidFill>
                <a:latin typeface="Arimo Bold"/>
                <a:ea typeface="Arimo Bold"/>
                <a:cs typeface="Arimo Bold"/>
                <a:sym typeface="Arimo Bold"/>
              </a:rPr>
              <a:t>Messages arrive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9200" y="5971575"/>
            <a:ext cx="2527221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CFC8E4"/>
                </a:solidFill>
                <a:latin typeface="Arimo"/>
                <a:ea typeface="Arimo"/>
                <a:cs typeface="Arimo"/>
                <a:sym typeface="Arimo"/>
              </a:rPr>
              <a:t>From the job’s WhatsApp group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3898821" y="4389720"/>
            <a:ext cx="914400" cy="914400"/>
            <a:chOff x="0" y="0"/>
            <a:chExt cx="121920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B8A6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108371" y="4599270"/>
            <a:ext cx="495300" cy="495300"/>
            <a:chOff x="0" y="0"/>
            <a:chExt cx="660400" cy="660400"/>
          </a:xfrm>
        </p:grpSpPr>
        <p:sp>
          <p:nvSpPr>
            <p:cNvPr name="Freeform 21" id="21" descr="Search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3898821" y="5485095"/>
            <a:ext cx="2527335" cy="363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374" b="true">
                <a:solidFill>
                  <a:srgbClr val="F3EEE4"/>
                </a:solidFill>
                <a:latin typeface="Arimo Bold"/>
                <a:ea typeface="Arimo Bold"/>
                <a:cs typeface="Arimo Bold"/>
                <a:sym typeface="Arimo Bold"/>
              </a:rPr>
              <a:t>Chat analysed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98821" y="5943486"/>
            <a:ext cx="2527335" cy="96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944">
                <a:solidFill>
                  <a:srgbClr val="CFC8E4"/>
                </a:solidFill>
                <a:latin typeface="Arimo"/>
                <a:ea typeface="Arimo"/>
                <a:cs typeface="Arimo"/>
                <a:sym typeface="Arimo"/>
              </a:rPr>
              <a:t>Reader finds item, quantity, price, source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578565" y="4389720"/>
            <a:ext cx="914400" cy="914400"/>
            <a:chOff x="0" y="0"/>
            <a:chExt cx="121920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F5B2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88115" y="4599270"/>
            <a:ext cx="495300" cy="495300"/>
            <a:chOff x="0" y="0"/>
            <a:chExt cx="660400" cy="660400"/>
          </a:xfrm>
        </p:grpSpPr>
        <p:sp>
          <p:nvSpPr>
            <p:cNvPr name="Freeform 27" id="27" descr="Check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6578565" y="5485095"/>
            <a:ext cx="2527221" cy="39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2550" b="true">
                <a:solidFill>
                  <a:srgbClr val="F3EEE4"/>
                </a:solidFill>
                <a:latin typeface="Arimo Bold"/>
                <a:ea typeface="Arimo Bold"/>
                <a:cs typeface="Arimo Bold"/>
                <a:sym typeface="Arimo Bold"/>
              </a:rPr>
              <a:t>PM checks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78565" y="5971575"/>
            <a:ext cx="2527221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CFC8E4"/>
                </a:solidFill>
                <a:latin typeface="Arimo"/>
                <a:ea typeface="Arimo"/>
                <a:cs typeface="Arimo"/>
                <a:sym typeface="Arimo"/>
              </a:rPr>
              <a:t>Adds any missing price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258186" y="4389720"/>
            <a:ext cx="914400" cy="914400"/>
            <a:chOff x="0" y="0"/>
            <a:chExt cx="121920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F5B2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67736" y="4599270"/>
            <a:ext cx="495300" cy="495300"/>
            <a:chOff x="0" y="0"/>
            <a:chExt cx="660400" cy="660400"/>
          </a:xfrm>
        </p:grpSpPr>
        <p:sp>
          <p:nvSpPr>
            <p:cNvPr name="Freeform 33" id="33" descr="Verified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258186" y="5485095"/>
            <a:ext cx="2679744" cy="677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2"/>
              </a:lnSpc>
            </a:pPr>
            <a:r>
              <a:rPr lang="en-US" sz="2494" b="true">
                <a:solidFill>
                  <a:srgbClr val="F3EEE4"/>
                </a:solidFill>
                <a:latin typeface="Arimo Bold"/>
                <a:ea typeface="Arimo Bold"/>
                <a:cs typeface="Arimo Bold"/>
                <a:sym typeface="Arimo Bold"/>
              </a:rPr>
              <a:t>Director signs off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58186" y="6258049"/>
            <a:ext cx="2527335" cy="65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773">
                <a:solidFill>
                  <a:srgbClr val="CFC8E4"/>
                </a:solidFill>
                <a:latin typeface="Arimo"/>
                <a:ea typeface="Arimo"/>
                <a:cs typeface="Arimo"/>
                <a:sym typeface="Arimo"/>
              </a:rPr>
              <a:t>RM500 or more, and discounts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1937921" y="4389720"/>
            <a:ext cx="914400" cy="914400"/>
            <a:chOff x="0" y="0"/>
            <a:chExt cx="121920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F5B2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147471" y="4599270"/>
            <a:ext cx="495300" cy="495300"/>
            <a:chOff x="0" y="0"/>
            <a:chExt cx="660400" cy="660400"/>
          </a:xfrm>
        </p:grpSpPr>
        <p:sp>
          <p:nvSpPr>
            <p:cNvPr name="Freeform 39" id="39" descr="ThumbsUp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1937921" y="5485095"/>
            <a:ext cx="2527335" cy="39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2550" b="true">
                <a:solidFill>
                  <a:srgbClr val="F3EEE4"/>
                </a:solidFill>
                <a:latin typeface="Arimo Bold"/>
                <a:ea typeface="Arimo Bold"/>
                <a:cs typeface="Arimo Bold"/>
                <a:sym typeface="Arimo Bold"/>
              </a:rPr>
              <a:t>Client confirms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937921" y="5971575"/>
            <a:ext cx="2527335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CFC8E4"/>
                </a:solidFill>
                <a:latin typeface="Arimo"/>
                <a:ea typeface="Arimo"/>
                <a:cs typeface="Arimo"/>
                <a:sym typeface="Arimo"/>
              </a:rPr>
              <a:t>From a link, no login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4617665" y="4389720"/>
            <a:ext cx="914400" cy="914400"/>
            <a:chOff x="0" y="0"/>
            <a:chExt cx="121920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3EEE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827215" y="4599270"/>
            <a:ext cx="495300" cy="495300"/>
            <a:chOff x="0" y="0"/>
            <a:chExt cx="660400" cy="660400"/>
          </a:xfrm>
        </p:grpSpPr>
        <p:sp>
          <p:nvSpPr>
            <p:cNvPr name="Freeform 45" id="45" descr="PaperPlane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4617665" y="5485095"/>
            <a:ext cx="2527221" cy="753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2550" b="true">
                <a:solidFill>
                  <a:srgbClr val="F3EEE4"/>
                </a:solidFill>
                <a:latin typeface="Arimo Bold"/>
                <a:ea typeface="Arimo Bold"/>
                <a:cs typeface="Arimo Bold"/>
                <a:sym typeface="Arimo Bold"/>
              </a:rPr>
              <a:t>Quote v2 to the group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617665" y="6334249"/>
            <a:ext cx="2527221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CFC8E4"/>
                </a:solidFill>
                <a:latin typeface="Arimo"/>
                <a:ea typeface="Arimo"/>
                <a:cs typeface="Arimo"/>
                <a:sym typeface="Arimo"/>
              </a:rPr>
              <a:t>Plus bill, CSV, log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19200" y="7596311"/>
            <a:ext cx="14716125" cy="1216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3"/>
              </a:lnSpc>
            </a:pPr>
            <a:r>
              <a:rPr lang="en-US" sz="4303" i="true">
                <a:solidFill>
                  <a:srgbClr val="F3EEE4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In our test,</a:t>
            </a:r>
            <a:r>
              <a:rPr lang="en-US" sz="4303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all 15 agreed changes reached the bill, with a person checking each one.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19200" y="9309735"/>
            <a:ext cx="12673584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59DC0"/>
                </a:solidFill>
                <a:latin typeface="Roboto Mono"/>
                <a:ea typeface="Roboto Mono"/>
                <a:cs typeface="Roboto Mono"/>
                <a:sym typeface="Roboto Mono"/>
              </a:rPr>
              <a:t>Synthetic test: 4 unseen chats, 15 agreed changes. Reproduce: python src/benefit.py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59DC0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4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2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189280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LIVE DEMO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4426267"/>
            <a:ext cx="1632508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0"/>
              </a:lnSpc>
            </a:pPr>
            <a:r>
              <a:rPr lang="en-US" sz="12000" spc="-225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Watch it </a:t>
            </a:r>
            <a:r>
              <a:rPr lang="en-US" sz="12000" i="true" spc="-225">
                <a:solidFill>
                  <a:srgbClr val="FF5B2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catch a change.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200" y="5835968"/>
            <a:ext cx="12753975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CFC8E4"/>
                </a:solidFill>
                <a:latin typeface="Arimo"/>
                <a:ea typeface="Arimo"/>
                <a:cs typeface="Arimo"/>
                <a:sym typeface="Arimo"/>
              </a:rPr>
              <a:t>A real WhatsApp group, from the owner’s chair.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932116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A59DC0"/>
                </a:solidFill>
                <a:latin typeface="Arimo"/>
                <a:ea typeface="Arimo"/>
                <a:cs typeface="Arimo"/>
                <a:sym typeface="Arimo"/>
              </a:rPr>
              <a:t>Test numbers and sample business data. Backup: the recorded demo.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59DC0"/>
                </a:solidFill>
                <a:latin typeface="Roboto Mono"/>
                <a:ea typeface="Roboto Mono"/>
                <a:cs typeface="Roboto Mono"/>
                <a:sym typeface="Roboto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2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378561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TECHNICAL APPROACH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96415"/>
            <a:ext cx="16325088" cy="84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sz="7200" spc="-75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AI reads. </a:t>
            </a:r>
            <a:r>
              <a:rPr lang="en-US" sz="7200" i="true" spc="-75">
                <a:solidFill>
                  <a:srgbClr val="FF5B2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Code and people decide.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19200" y="3549967"/>
            <a:ext cx="285750" cy="285750"/>
            <a:chOff x="0" y="0"/>
            <a:chExt cx="381000" cy="38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FF5B2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4950" y="3678555"/>
            <a:ext cx="2701290" cy="28575"/>
            <a:chOff x="0" y="0"/>
            <a:chExt cx="360172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01720" cy="38100"/>
            </a:xfrm>
            <a:custGeom>
              <a:avLst/>
              <a:gdLst/>
              <a:ahLst/>
              <a:cxnLst/>
              <a:rect r="r" b="b" t="t" l="l"/>
              <a:pathLst>
                <a:path h="38100" w="3601720">
                  <a:moveTo>
                    <a:pt x="0" y="0"/>
                  </a:moveTo>
                  <a:lnTo>
                    <a:pt x="3601720" y="0"/>
                  </a:lnTo>
                  <a:lnTo>
                    <a:pt x="360172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19200" y="3959542"/>
            <a:ext cx="307665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TRIGGER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19200" y="4498658"/>
            <a:ext cx="2987040" cy="2690812"/>
            <a:chOff x="0" y="0"/>
            <a:chExt cx="3982720" cy="35877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82720" cy="3587750"/>
            </a:xfrm>
            <a:custGeom>
              <a:avLst/>
              <a:gdLst/>
              <a:ahLst/>
              <a:cxnLst/>
              <a:rect r="r" b="b" t="t" l="l"/>
              <a:pathLst>
                <a:path h="3587750" w="3982720">
                  <a:moveTo>
                    <a:pt x="0" y="0"/>
                  </a:moveTo>
                  <a:lnTo>
                    <a:pt x="3982720" y="0"/>
                  </a:lnTo>
                  <a:lnTo>
                    <a:pt x="3982720" y="3587750"/>
                  </a:lnTo>
                  <a:lnTo>
                    <a:pt x="0" y="3587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579" t="0" r="-65579" b="0"/>
              </a:stretch>
            </a:blipFill>
            <a:ln w="19050" cap="sq">
              <a:solidFill>
                <a:srgbClr val="3A2F5E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82090" y="4856797"/>
            <a:ext cx="253746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75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WhatsApp group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2090" y="5895022"/>
            <a:ext cx="25374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A message arrives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434840" y="3549967"/>
            <a:ext cx="285750" cy="285750"/>
            <a:chOff x="0" y="0"/>
            <a:chExt cx="381000" cy="381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FF5B2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720590" y="3678555"/>
            <a:ext cx="2701290" cy="28575"/>
            <a:chOff x="0" y="0"/>
            <a:chExt cx="3601720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01720" cy="38100"/>
            </a:xfrm>
            <a:custGeom>
              <a:avLst/>
              <a:gdLst/>
              <a:ahLst/>
              <a:cxnLst/>
              <a:rect r="r" b="b" t="t" l="l"/>
              <a:pathLst>
                <a:path h="38100" w="3601720">
                  <a:moveTo>
                    <a:pt x="0" y="0"/>
                  </a:moveTo>
                  <a:lnTo>
                    <a:pt x="3601720" y="0"/>
                  </a:lnTo>
                  <a:lnTo>
                    <a:pt x="360172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434840" y="3959542"/>
            <a:ext cx="307665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DATA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434840" y="4498658"/>
            <a:ext cx="2987040" cy="2690812"/>
            <a:chOff x="0" y="0"/>
            <a:chExt cx="3982720" cy="35877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82720" cy="3587750"/>
            </a:xfrm>
            <a:custGeom>
              <a:avLst/>
              <a:gdLst/>
              <a:ahLst/>
              <a:cxnLst/>
              <a:rect r="r" b="b" t="t" l="l"/>
              <a:pathLst>
                <a:path h="3587750" w="3982720">
                  <a:moveTo>
                    <a:pt x="0" y="0"/>
                  </a:moveTo>
                  <a:lnTo>
                    <a:pt x="3982720" y="0"/>
                  </a:lnTo>
                  <a:lnTo>
                    <a:pt x="3982720" y="3587750"/>
                  </a:lnTo>
                  <a:lnTo>
                    <a:pt x="0" y="3587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579" t="0" r="-65579" b="0"/>
              </a:stretch>
            </a:blipFill>
            <a:ln w="19050" cap="sq">
              <a:solidFill>
                <a:srgbClr val="3A2F5E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4697730" y="4856797"/>
            <a:ext cx="253746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75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Quote and rate card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97730" y="5895022"/>
            <a:ext cx="253746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Quote lines, prices, who’s who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650480" y="3549967"/>
            <a:ext cx="285750" cy="285750"/>
            <a:chOff x="0" y="0"/>
            <a:chExt cx="381000" cy="38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FF5B2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36230" y="3678555"/>
            <a:ext cx="2701290" cy="28575"/>
            <a:chOff x="0" y="0"/>
            <a:chExt cx="360172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01720" cy="38100"/>
            </a:xfrm>
            <a:custGeom>
              <a:avLst/>
              <a:gdLst/>
              <a:ahLst/>
              <a:cxnLst/>
              <a:rect r="r" b="b" t="t" l="l"/>
              <a:pathLst>
                <a:path h="38100" w="3601720">
                  <a:moveTo>
                    <a:pt x="0" y="0"/>
                  </a:moveTo>
                  <a:lnTo>
                    <a:pt x="3601720" y="0"/>
                  </a:lnTo>
                  <a:lnTo>
                    <a:pt x="360172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650480" y="3959542"/>
            <a:ext cx="307665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CHAT ANALYSIS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650480" y="4498658"/>
            <a:ext cx="2987040" cy="2690812"/>
            <a:chOff x="0" y="0"/>
            <a:chExt cx="3982720" cy="35877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82720" cy="3587750"/>
            </a:xfrm>
            <a:custGeom>
              <a:avLst/>
              <a:gdLst/>
              <a:ahLst/>
              <a:cxnLst/>
              <a:rect r="r" b="b" t="t" l="l"/>
              <a:pathLst>
                <a:path h="3587750" w="3982720">
                  <a:moveTo>
                    <a:pt x="0" y="0"/>
                  </a:moveTo>
                  <a:lnTo>
                    <a:pt x="3982720" y="0"/>
                  </a:lnTo>
                  <a:lnTo>
                    <a:pt x="3982720" y="3587750"/>
                  </a:lnTo>
                  <a:lnTo>
                    <a:pt x="0" y="3587750"/>
                  </a:lnTo>
                  <a:close/>
                </a:path>
              </a:pathLst>
            </a:custGeom>
            <a:solidFill>
              <a:srgbClr val="3D25B8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7898130" y="4841558"/>
            <a:ext cx="2567940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75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Reads the chat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98130" y="5379720"/>
            <a:ext cx="2567940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Rules at once. Llama AI reads the chat against the quote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866120" y="3549967"/>
            <a:ext cx="285750" cy="285750"/>
            <a:chOff x="0" y="0"/>
            <a:chExt cx="381000" cy="381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FF5B2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151870" y="3678555"/>
            <a:ext cx="2701290" cy="28575"/>
            <a:chOff x="0" y="0"/>
            <a:chExt cx="3601720" cy="381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01720" cy="38100"/>
            </a:xfrm>
            <a:custGeom>
              <a:avLst/>
              <a:gdLst/>
              <a:ahLst/>
              <a:cxnLst/>
              <a:rect r="r" b="b" t="t" l="l"/>
              <a:pathLst>
                <a:path h="38100" w="3601720">
                  <a:moveTo>
                    <a:pt x="0" y="0"/>
                  </a:moveTo>
                  <a:lnTo>
                    <a:pt x="3601720" y="0"/>
                  </a:lnTo>
                  <a:lnTo>
                    <a:pt x="360172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866120" y="3959542"/>
            <a:ext cx="307665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APPROVAL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866120" y="4498658"/>
            <a:ext cx="2987040" cy="2690812"/>
            <a:chOff x="0" y="0"/>
            <a:chExt cx="3982720" cy="35877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982720" cy="3587750"/>
            </a:xfrm>
            <a:custGeom>
              <a:avLst/>
              <a:gdLst/>
              <a:ahLst/>
              <a:cxnLst/>
              <a:rect r="r" b="b" t="t" l="l"/>
              <a:pathLst>
                <a:path h="3587750" w="3982720">
                  <a:moveTo>
                    <a:pt x="0" y="0"/>
                  </a:moveTo>
                  <a:lnTo>
                    <a:pt x="3982720" y="0"/>
                  </a:lnTo>
                  <a:lnTo>
                    <a:pt x="3982720" y="3587750"/>
                  </a:lnTo>
                  <a:lnTo>
                    <a:pt x="0" y="3587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579" t="0" r="-65579" b="0"/>
              </a:stretch>
            </a:blipFill>
            <a:ln w="19050" cap="sq">
              <a:solidFill>
                <a:srgbClr val="3A2F5E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1129010" y="4856797"/>
            <a:ext cx="253746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75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PM, director, client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129010" y="5895022"/>
            <a:ext cx="253746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Roles enforced on the server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4081760" y="3549967"/>
            <a:ext cx="285750" cy="285750"/>
            <a:chOff x="0" y="0"/>
            <a:chExt cx="381000" cy="381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FF5B2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367510" y="3678555"/>
            <a:ext cx="2701290" cy="28575"/>
            <a:chOff x="0" y="0"/>
            <a:chExt cx="3601720" cy="381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01720" cy="38100"/>
            </a:xfrm>
            <a:custGeom>
              <a:avLst/>
              <a:gdLst/>
              <a:ahLst/>
              <a:cxnLst/>
              <a:rect r="r" b="b" t="t" l="l"/>
              <a:pathLst>
                <a:path h="38100" w="3601720">
                  <a:moveTo>
                    <a:pt x="0" y="0"/>
                  </a:moveTo>
                  <a:lnTo>
                    <a:pt x="3601720" y="0"/>
                  </a:lnTo>
                  <a:lnTo>
                    <a:pt x="360172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4081760" y="3959542"/>
            <a:ext cx="307665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OUTCOME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4081760" y="4498658"/>
            <a:ext cx="2987040" cy="2690812"/>
            <a:chOff x="0" y="0"/>
            <a:chExt cx="3982720" cy="35877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982720" cy="3587750"/>
            </a:xfrm>
            <a:custGeom>
              <a:avLst/>
              <a:gdLst/>
              <a:ahLst/>
              <a:cxnLst/>
              <a:rect r="r" b="b" t="t" l="l"/>
              <a:pathLst>
                <a:path h="3587750" w="3982720">
                  <a:moveTo>
                    <a:pt x="0" y="0"/>
                  </a:moveTo>
                  <a:lnTo>
                    <a:pt x="3982720" y="0"/>
                  </a:lnTo>
                  <a:lnTo>
                    <a:pt x="3982720" y="3587750"/>
                  </a:lnTo>
                  <a:lnTo>
                    <a:pt x="0" y="35877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5579" t="0" r="-65579" b="0"/>
              </a:stretch>
            </a:blipFill>
            <a:ln w="19050" cap="sq">
              <a:solidFill>
                <a:srgbClr val="3A2F5E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4344650" y="4856797"/>
            <a:ext cx="253746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75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Quote v2 and bill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344650" y="5895022"/>
            <a:ext cx="253746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Posted back to the group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19200" y="8172450"/>
            <a:ext cx="1632508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i="true">
                <a:solidFill>
                  <a:srgbClr val="F3EEE4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If the AI is down,</a:t>
            </a:r>
            <a:r>
              <a:rPr lang="en-US" sz="450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450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rules keep working.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19200" y="932117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A59DC0"/>
                </a:solidFill>
                <a:latin typeface="Arimo"/>
                <a:ea typeface="Arimo"/>
                <a:cs typeface="Arimo"/>
                <a:sym typeface="Arimo"/>
              </a:rPr>
              <a:t>Labels are the five steps of the Domain 2 brief. AI reader: open Llama 3.1 8B on a private GPU endpoint. Accuracy results: appendix.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59DC0"/>
                </a:solidFill>
                <a:latin typeface="Roboto Mono"/>
                <a:ea typeface="Roboto Mono"/>
                <a:cs typeface="Roboto Mono"/>
                <a:sym typeface="Roboto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2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378561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ORBYTE INTEGRATION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844050"/>
            <a:ext cx="1632508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600" spc="-74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Plugs into Orbyte. </a:t>
            </a:r>
            <a:r>
              <a:rPr lang="en-US" sz="6600" i="true" spc="-74">
                <a:solidFill>
                  <a:srgbClr val="C93A0B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Adds what it lacks.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234440" y="2942754"/>
          <a:ext cx="9296400" cy="4267200"/>
        </p:xfrm>
        <a:graphic>
          <a:graphicData uri="http://schemas.openxmlformats.org/drawingml/2006/table">
            <a:tbl>
              <a:tblPr/>
              <a:tblGrid>
                <a:gridCol w="4648200"/>
                <a:gridCol w="4648200"/>
              </a:tblGrid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3EEE4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SMErgers needs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B8A6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Orbyte provides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The job and its client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3D25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Clients and projects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Who is PM, director, client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3D25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Directory, shared roles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Director and client sign-off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3D25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Approvals, eSign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 record nobody can edit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3D25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Audit trail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Sending the bill out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3D25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Accounting partners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Job data for other modules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3D25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Open APIs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11087100" y="2927518"/>
            <a:ext cx="5981700" cy="1153592"/>
            <a:chOff x="0" y="0"/>
            <a:chExt cx="7975600" cy="15381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75600" cy="1538097"/>
            </a:xfrm>
            <a:custGeom>
              <a:avLst/>
              <a:gdLst/>
              <a:ahLst/>
              <a:cxnLst/>
              <a:rect r="r" b="b" t="t" l="l"/>
              <a:pathLst>
                <a:path h="1538097" w="7975600">
                  <a:moveTo>
                    <a:pt x="0" y="0"/>
                  </a:moveTo>
                  <a:lnTo>
                    <a:pt x="7975600" y="0"/>
                  </a:lnTo>
                  <a:lnTo>
                    <a:pt x="7975600" y="1538097"/>
                  </a:lnTo>
                  <a:lnTo>
                    <a:pt x="0" y="1538097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353800" y="3070393"/>
            <a:ext cx="561174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WHAT WE ADD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53800" y="3476149"/>
            <a:ext cx="5611749" cy="452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Chat turned into approved changes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1068053" y="4233490"/>
            <a:ext cx="6000747" cy="0"/>
          </a:xfrm>
          <a:prstGeom prst="line">
            <a:avLst/>
          </a:prstGeom>
          <a:ln cap="rnd" w="19050">
            <a:solidFill>
              <a:srgbClr val="3D25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1087100" y="4481160"/>
            <a:ext cx="4572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58600" y="4563075"/>
            <a:ext cx="557250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TODAY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58600" y="4892640"/>
            <a:ext cx="5572506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Job API and the official WhatsApp webhook format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1068053" y="5765150"/>
            <a:ext cx="6019803" cy="0"/>
          </a:xfrm>
          <a:prstGeom prst="line">
            <a:avLst/>
          </a:prstGeom>
          <a:ln cap="rnd" w="19050">
            <a:solidFill>
              <a:srgbClr val="3D25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1087100" y="5974680"/>
            <a:ext cx="4572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58600" y="6056586"/>
            <a:ext cx="557250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PILOT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58600" y="6386160"/>
            <a:ext cx="5572506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Use Orbyte’s roles, approvals and eSign instead of ours</a:t>
            </a:r>
          </a:p>
        </p:txBody>
      </p:sp>
      <p:sp>
        <p:nvSpPr>
          <p:cNvPr name="AutoShape 19" id="19"/>
          <p:cNvSpPr/>
          <p:nvPr/>
        </p:nvSpPr>
        <p:spPr>
          <a:xfrm rot="21780">
            <a:off x="11067993" y="7230075"/>
            <a:ext cx="6019924" cy="0"/>
          </a:xfrm>
          <a:prstGeom prst="line">
            <a:avLst/>
          </a:prstGeom>
          <a:ln cap="rnd" w="19050">
            <a:solidFill>
              <a:srgbClr val="3D25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1087100" y="7468200"/>
            <a:ext cx="4572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58600" y="7550115"/>
            <a:ext cx="557250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ADD-ON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58600" y="7879680"/>
            <a:ext cx="5572506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One switch in Orbyte for SMEs that quote jobs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9200" y="932117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Orbyte modules as in the organizers’ introduction. Designed, not yet connected to a live Orbyte: docs/orbyte-integration.md.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2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294436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WHO WE SELL 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86900"/>
            <a:ext cx="1632508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600" spc="-74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Start with events. </a:t>
            </a:r>
            <a:r>
              <a:rPr lang="en-US" sz="6600" i="true" spc="-74">
                <a:solidFill>
                  <a:srgbClr val="3D25B8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Then any firm that quotes a job.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19200" y="2813218"/>
            <a:ext cx="8039100" cy="5189220"/>
            <a:chOff x="0" y="0"/>
            <a:chExt cx="10718800" cy="6918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18800" cy="6918960"/>
            </a:xfrm>
            <a:custGeom>
              <a:avLst/>
              <a:gdLst/>
              <a:ahLst/>
              <a:cxnLst/>
              <a:rect r="r" b="b" t="t" l="l"/>
              <a:pathLst>
                <a:path h="6918960" w="10718800">
                  <a:moveTo>
                    <a:pt x="0" y="0"/>
                  </a:moveTo>
                  <a:lnTo>
                    <a:pt x="10718800" y="0"/>
                  </a:lnTo>
                  <a:lnTo>
                    <a:pt x="10718800" y="6918960"/>
                  </a:lnTo>
                  <a:lnTo>
                    <a:pt x="0" y="6918960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38300" y="3184693"/>
            <a:ext cx="741692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PRIMARY · FIRST TARGET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8300" y="3828574"/>
            <a:ext cx="7416927" cy="749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6"/>
              </a:lnSpc>
            </a:pPr>
            <a:r>
              <a:rPr lang="en-US" sz="630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Small event companies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38300" y="4673203"/>
            <a:ext cx="7416927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Quote signed, then changes in WhatsApp. This is where our survey and our demo are.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67900" y="2765593"/>
            <a:ext cx="741692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SECONDARY · NEXT, WITH A NEW QUOTE FILE</a:t>
            </a:r>
          </a:p>
        </p:txBody>
      </p:sp>
      <p:sp>
        <p:nvSpPr>
          <p:cNvPr name="AutoShape 12" id="12"/>
          <p:cNvSpPr/>
          <p:nvPr/>
        </p:nvSpPr>
        <p:spPr>
          <a:xfrm rot="4560">
            <a:off x="9863138" y="3247549"/>
            <a:ext cx="721043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9867900" y="3542824"/>
            <a:ext cx="209550" cy="209550"/>
            <a:chOff x="0" y="0"/>
            <a:chExt cx="279400" cy="279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cubicBezTo>
                    <a:pt x="216916" y="0"/>
                    <a:pt x="279400" y="62484"/>
                    <a:pt x="279400" y="139700"/>
                  </a:cubicBezTo>
                  <a:cubicBezTo>
                    <a:pt x="279400" y="216916"/>
                    <a:pt x="216916" y="279400"/>
                    <a:pt x="139700" y="279400"/>
                  </a:cubicBezTo>
                  <a:cubicBezTo>
                    <a:pt x="62484" y="279400"/>
                    <a:pt x="0" y="216916"/>
                    <a:pt x="0" y="139700"/>
                  </a:cubicBezTo>
                  <a:close/>
                </a:path>
              </a:pathLst>
            </a:custGeom>
            <a:solidFill>
              <a:srgbClr val="F3EEE4"/>
            </a:solidFill>
            <a:ln w="28575" cap="sq">
              <a:solidFill>
                <a:srgbClr val="3D25B8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248900" y="3340894"/>
            <a:ext cx="6282804" cy="58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Renovation and fit-out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20160" y="3439954"/>
            <a:ext cx="62484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</a:p>
        </p:txBody>
      </p:sp>
      <p:sp>
        <p:nvSpPr>
          <p:cNvPr name="AutoShape 17" id="17"/>
          <p:cNvSpPr/>
          <p:nvPr/>
        </p:nvSpPr>
        <p:spPr>
          <a:xfrm rot="4560">
            <a:off x="9863138" y="4040029"/>
            <a:ext cx="721043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9867900" y="4335304"/>
            <a:ext cx="209550" cy="209550"/>
            <a:chOff x="0" y="0"/>
            <a:chExt cx="279400" cy="279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cubicBezTo>
                    <a:pt x="216916" y="0"/>
                    <a:pt x="279400" y="62484"/>
                    <a:pt x="279400" y="139700"/>
                  </a:cubicBezTo>
                  <a:cubicBezTo>
                    <a:pt x="279400" y="216916"/>
                    <a:pt x="216916" y="279400"/>
                    <a:pt x="139700" y="279400"/>
                  </a:cubicBezTo>
                  <a:cubicBezTo>
                    <a:pt x="62484" y="279400"/>
                    <a:pt x="0" y="216916"/>
                    <a:pt x="0" y="139700"/>
                  </a:cubicBezTo>
                  <a:close/>
                </a:path>
              </a:pathLst>
            </a:custGeom>
            <a:solidFill>
              <a:srgbClr val="F3EEE4"/>
            </a:solidFill>
            <a:ln w="28575" cap="sq">
              <a:solidFill>
                <a:srgbClr val="3D25B8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0248900" y="4133374"/>
            <a:ext cx="6282804" cy="58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Air-con and repair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520160" y="4232443"/>
            <a:ext cx="62484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</a:p>
        </p:txBody>
      </p:sp>
      <p:sp>
        <p:nvSpPr>
          <p:cNvPr name="AutoShape 22" id="22"/>
          <p:cNvSpPr/>
          <p:nvPr/>
        </p:nvSpPr>
        <p:spPr>
          <a:xfrm rot="4560">
            <a:off x="9863138" y="4832518"/>
            <a:ext cx="721043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9867900" y="5127793"/>
            <a:ext cx="209550" cy="209550"/>
            <a:chOff x="0" y="0"/>
            <a:chExt cx="279400" cy="279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cubicBezTo>
                    <a:pt x="216916" y="0"/>
                    <a:pt x="279400" y="62484"/>
                    <a:pt x="279400" y="139700"/>
                  </a:cubicBezTo>
                  <a:cubicBezTo>
                    <a:pt x="279400" y="216916"/>
                    <a:pt x="216916" y="279400"/>
                    <a:pt x="139700" y="279400"/>
                  </a:cubicBezTo>
                  <a:cubicBezTo>
                    <a:pt x="62484" y="279400"/>
                    <a:pt x="0" y="216916"/>
                    <a:pt x="0" y="139700"/>
                  </a:cubicBezTo>
                  <a:close/>
                </a:path>
              </a:pathLst>
            </a:custGeom>
            <a:solidFill>
              <a:srgbClr val="F3EEE4"/>
            </a:solidFill>
            <a:ln w="28575" cap="sq">
              <a:solidFill>
                <a:srgbClr val="3D25B8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0248900" y="4925854"/>
            <a:ext cx="6282804" cy="58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Catering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20160" y="5024914"/>
            <a:ext cx="62484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</a:p>
        </p:txBody>
      </p:sp>
      <p:sp>
        <p:nvSpPr>
          <p:cNvPr name="AutoShape 27" id="27"/>
          <p:cNvSpPr/>
          <p:nvPr/>
        </p:nvSpPr>
        <p:spPr>
          <a:xfrm rot="4560">
            <a:off x="9863138" y="5624989"/>
            <a:ext cx="721043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9867900" y="5920264"/>
            <a:ext cx="209550" cy="209550"/>
            <a:chOff x="0" y="0"/>
            <a:chExt cx="279400" cy="279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cubicBezTo>
                    <a:pt x="216916" y="0"/>
                    <a:pt x="279400" y="62484"/>
                    <a:pt x="279400" y="139700"/>
                  </a:cubicBezTo>
                  <a:cubicBezTo>
                    <a:pt x="279400" y="216916"/>
                    <a:pt x="216916" y="279400"/>
                    <a:pt x="139700" y="279400"/>
                  </a:cubicBezTo>
                  <a:cubicBezTo>
                    <a:pt x="62484" y="279400"/>
                    <a:pt x="0" y="216916"/>
                    <a:pt x="0" y="139700"/>
                  </a:cubicBezTo>
                  <a:close/>
                </a:path>
              </a:pathLst>
            </a:custGeom>
            <a:solidFill>
              <a:srgbClr val="F3EEE4"/>
            </a:solidFill>
            <a:ln w="28575" cap="sq">
              <a:solidFill>
                <a:srgbClr val="3D25B8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0248900" y="5718343"/>
            <a:ext cx="6282804" cy="58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Printing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20160" y="5817394"/>
            <a:ext cx="62484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</a:p>
        </p:txBody>
      </p:sp>
      <p:sp>
        <p:nvSpPr>
          <p:cNvPr name="AutoShape 32" id="32"/>
          <p:cNvSpPr/>
          <p:nvPr/>
        </p:nvSpPr>
        <p:spPr>
          <a:xfrm rot="4560">
            <a:off x="9863138" y="6417469"/>
            <a:ext cx="721043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9867900" y="6712744"/>
            <a:ext cx="209550" cy="209550"/>
            <a:chOff x="0" y="0"/>
            <a:chExt cx="279400" cy="279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cubicBezTo>
                    <a:pt x="216916" y="0"/>
                    <a:pt x="279400" y="62484"/>
                    <a:pt x="279400" y="139700"/>
                  </a:cubicBezTo>
                  <a:cubicBezTo>
                    <a:pt x="279400" y="216916"/>
                    <a:pt x="216916" y="279400"/>
                    <a:pt x="139700" y="279400"/>
                  </a:cubicBezTo>
                  <a:cubicBezTo>
                    <a:pt x="62484" y="279400"/>
                    <a:pt x="0" y="216916"/>
                    <a:pt x="0" y="139700"/>
                  </a:cubicBezTo>
                  <a:close/>
                </a:path>
              </a:pathLst>
            </a:custGeom>
            <a:solidFill>
              <a:srgbClr val="F3EEE4"/>
            </a:solidFill>
            <a:ln w="28575" cap="sq">
              <a:solidFill>
                <a:srgbClr val="3D25B8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0248900" y="6510814"/>
            <a:ext cx="6282804" cy="58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Web and creative agencies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520160" y="6609874"/>
            <a:ext cx="62484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</a:p>
        </p:txBody>
      </p:sp>
      <p:sp>
        <p:nvSpPr>
          <p:cNvPr name="AutoShape 37" id="37"/>
          <p:cNvSpPr/>
          <p:nvPr/>
        </p:nvSpPr>
        <p:spPr>
          <a:xfrm rot="4560">
            <a:off x="9863138" y="7209949"/>
            <a:ext cx="721043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9867900" y="7505224"/>
            <a:ext cx="209550" cy="209550"/>
            <a:chOff x="0" y="0"/>
            <a:chExt cx="279400" cy="279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cubicBezTo>
                    <a:pt x="216916" y="0"/>
                    <a:pt x="279400" y="62484"/>
                    <a:pt x="279400" y="139700"/>
                  </a:cubicBezTo>
                  <a:cubicBezTo>
                    <a:pt x="279400" y="216916"/>
                    <a:pt x="216916" y="279400"/>
                    <a:pt x="139700" y="279400"/>
                  </a:cubicBezTo>
                  <a:cubicBezTo>
                    <a:pt x="62484" y="279400"/>
                    <a:pt x="0" y="216916"/>
                    <a:pt x="0" y="139700"/>
                  </a:cubicBezTo>
                  <a:close/>
                </a:path>
              </a:pathLst>
            </a:custGeom>
            <a:solidFill>
              <a:srgbClr val="F3EEE4"/>
            </a:solidFill>
            <a:ln w="28575" cap="sq">
              <a:solidFill>
                <a:srgbClr val="3D25B8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0248900" y="7303294"/>
            <a:ext cx="6282804" cy="58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Wholesale and supply orders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520160" y="7402354"/>
            <a:ext cx="62484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19200" y="932117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Secondary markets are planned, not yet piloted. Each is a new quote file for the same engine.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012555"/>
            <a:ext cx="14716125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Plans and limits are a launch proposal; the prices came from our survey of 7. How much an owner recovers is not measured yet: the pilot measures it.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11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1152525"/>
            <a:ext cx="152400" cy="152400"/>
            <a:chOff x="0" y="0"/>
            <a:chExt cx="2032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24000" y="1021080"/>
            <a:ext cx="294436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BUSINESS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1714500"/>
            <a:ext cx="1632508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600" spc="-74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We sell software by the month. </a:t>
            </a:r>
            <a:r>
              <a:rPr lang="en-US" sz="6600" i="true" spc="-74">
                <a:solidFill>
                  <a:srgbClr val="3D25B8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The owner pays.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19200" y="3752850"/>
            <a:ext cx="5115525" cy="2952750"/>
            <a:chOff x="0" y="0"/>
            <a:chExt cx="6820700" cy="393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20662" cy="3937000"/>
            </a:xfrm>
            <a:custGeom>
              <a:avLst/>
              <a:gdLst/>
              <a:ahLst/>
              <a:cxnLst/>
              <a:rect r="r" b="b" t="t" l="l"/>
              <a:pathLst>
                <a:path h="3937000" w="6820662">
                  <a:moveTo>
                    <a:pt x="0" y="0"/>
                  </a:moveTo>
                  <a:lnTo>
                    <a:pt x="6820662" y="0"/>
                  </a:lnTo>
                  <a:lnTo>
                    <a:pt x="6820662" y="3937000"/>
                  </a:lnTo>
                  <a:lnTo>
                    <a:pt x="0" y="3937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058" t="0" r="-24059" b="0"/>
              </a:stretch>
            </a:blipFill>
            <a:ln w="19050" cap="sq">
              <a:solidFill>
                <a:srgbClr val="C9C1B0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577340" y="4072900"/>
            <a:ext cx="4531214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299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7340" y="4789170"/>
            <a:ext cx="154062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3D25B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Free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7340" y="5798820"/>
            <a:ext cx="4531214" cy="54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2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 job at a time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601425" y="3752850"/>
            <a:ext cx="5085159" cy="2952750"/>
            <a:chOff x="0" y="0"/>
            <a:chExt cx="6780212" cy="393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80149" cy="3937000"/>
            </a:xfrm>
            <a:custGeom>
              <a:avLst/>
              <a:gdLst/>
              <a:ahLst/>
              <a:cxnLst/>
              <a:rect r="r" b="b" t="t" l="l"/>
              <a:pathLst>
                <a:path h="3937000" w="6780149">
                  <a:moveTo>
                    <a:pt x="0" y="0"/>
                  </a:moveTo>
                  <a:lnTo>
                    <a:pt x="6780149" y="0"/>
                  </a:lnTo>
                  <a:lnTo>
                    <a:pt x="6780149" y="3937000"/>
                  </a:lnTo>
                  <a:lnTo>
                    <a:pt x="0" y="3937000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944325" y="4057650"/>
            <a:ext cx="4531338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299">
                <a:solidFill>
                  <a:srgbClr val="A59DC0"/>
                </a:solidFill>
                <a:latin typeface="Roboto Mono"/>
                <a:ea typeface="Roboto Mono"/>
                <a:cs typeface="Roboto Mono"/>
                <a:sym typeface="Roboto Mono"/>
              </a:rPr>
              <a:t>RUN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44325" y="4773930"/>
            <a:ext cx="2260397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RM100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04722" y="5088255"/>
            <a:ext cx="1166574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A59DC0"/>
                </a:solidFill>
                <a:latin typeface="Arimo"/>
                <a:ea typeface="Arimo"/>
                <a:cs typeface="Arimo"/>
                <a:sym typeface="Arimo"/>
              </a:rPr>
              <a:t>a month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44325" y="5783580"/>
            <a:ext cx="4531338" cy="54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20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10 jobs at a time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953275" y="3752850"/>
            <a:ext cx="5115525" cy="2952750"/>
            <a:chOff x="0" y="0"/>
            <a:chExt cx="6820700" cy="393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20662" cy="3937000"/>
            </a:xfrm>
            <a:custGeom>
              <a:avLst/>
              <a:gdLst/>
              <a:ahLst/>
              <a:cxnLst/>
              <a:rect r="r" b="b" t="t" l="l"/>
              <a:pathLst>
                <a:path h="3937000" w="6820662">
                  <a:moveTo>
                    <a:pt x="0" y="0"/>
                  </a:moveTo>
                  <a:lnTo>
                    <a:pt x="6820662" y="0"/>
                  </a:lnTo>
                  <a:lnTo>
                    <a:pt x="6820662" y="3937000"/>
                  </a:lnTo>
                  <a:lnTo>
                    <a:pt x="0" y="3937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4058" t="0" r="-24059" b="0"/>
              </a:stretch>
            </a:blipFill>
            <a:ln w="19050" cap="sq">
              <a:solidFill>
                <a:srgbClr val="C9C1B0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311415" y="4072900"/>
            <a:ext cx="4531214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299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SCALE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11415" y="4789170"/>
            <a:ext cx="233089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3D25B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RM250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42306" y="5103495"/>
            <a:ext cx="1166574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a month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11415" y="5798820"/>
            <a:ext cx="4531214" cy="54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2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Unlimited jobs</a:t>
            </a:r>
          </a:p>
        </p:txBody>
      </p:sp>
      <p:sp>
        <p:nvSpPr>
          <p:cNvPr name="AutoShape 25" id="25"/>
          <p:cNvSpPr/>
          <p:nvPr/>
        </p:nvSpPr>
        <p:spPr>
          <a:xfrm rot="8220">
            <a:off x="1200131" y="8010525"/>
            <a:ext cx="15887748" cy="0"/>
          </a:xfrm>
          <a:prstGeom prst="line">
            <a:avLst/>
          </a:prstGeom>
          <a:ln cap="rnd" w="19050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219200" y="8277225"/>
            <a:ext cx="16325088" cy="52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6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5 of 7 event pros we asked lose </a:t>
            </a:r>
            <a:r>
              <a:rPr lang="en-US" sz="3600" i="true">
                <a:solidFill>
                  <a:srgbClr val="C93A0B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11%+ of a typical job.</a:t>
            </a:r>
            <a:r>
              <a:rPr lang="en-US" sz="36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6 of 7 picked a paid plan as fair.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2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231343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MARKET SIZE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77375"/>
            <a:ext cx="16325088" cy="749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6"/>
              </a:lnSpc>
            </a:pPr>
            <a:r>
              <a:rPr lang="en-US" sz="6300" spc="-75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How big? </a:t>
            </a:r>
            <a:r>
              <a:rPr lang="en-US" sz="6300" i="true" spc="-75">
                <a:solidFill>
                  <a:srgbClr val="3D25B8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Counted bottom-up.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19200" y="2774394"/>
            <a:ext cx="5715000" cy="5715000"/>
            <a:chOff x="0" y="0"/>
            <a:chExt cx="7620000" cy="7620000"/>
          </a:xfrm>
        </p:grpSpPr>
        <p:sp>
          <p:nvSpPr>
            <p:cNvPr name="Freeform 7" id="7" descr="Nested circles: TAM RM153m, SAM RM31m, SOM RM0.6m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620000" y="3567827"/>
            <a:ext cx="209550" cy="209550"/>
            <a:chOff x="0" y="0"/>
            <a:chExt cx="279400" cy="279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cubicBezTo>
                    <a:pt x="216916" y="0"/>
                    <a:pt x="279400" y="62484"/>
                    <a:pt x="279400" y="139700"/>
                  </a:cubicBezTo>
                  <a:cubicBezTo>
                    <a:pt x="279400" y="216916"/>
                    <a:pt x="216916" y="279400"/>
                    <a:pt x="139700" y="279400"/>
                  </a:cubicBezTo>
                  <a:cubicBezTo>
                    <a:pt x="62484" y="279400"/>
                    <a:pt x="0" y="216916"/>
                    <a:pt x="0" y="139700"/>
                  </a:cubicBezTo>
                  <a:close/>
                </a:path>
              </a:pathLst>
            </a:custGeom>
            <a:solidFill>
              <a:srgbClr val="3D25B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039100" y="3520202"/>
            <a:ext cx="930059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TAM · EVERY FIRM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39100" y="3945017"/>
            <a:ext cx="9300591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6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About 128,000 firms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39100" y="4329827"/>
            <a:ext cx="9300591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Small firms that run projects in Malaysia, at RM1,200 a year each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620000" y="5070872"/>
            <a:ext cx="209550" cy="209550"/>
            <a:chOff x="0" y="0"/>
            <a:chExt cx="279400" cy="279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cubicBezTo>
                    <a:pt x="216916" y="0"/>
                    <a:pt x="279400" y="62484"/>
                    <a:pt x="279400" y="139700"/>
                  </a:cubicBezTo>
                  <a:cubicBezTo>
                    <a:pt x="279400" y="216916"/>
                    <a:pt x="216916" y="279400"/>
                    <a:pt x="139700" y="279400"/>
                  </a:cubicBezTo>
                  <a:cubicBezTo>
                    <a:pt x="62484" y="279400"/>
                    <a:pt x="0" y="216916"/>
                    <a:pt x="0" y="139700"/>
                  </a:cubicBezTo>
                  <a:close/>
                </a:path>
              </a:pathLst>
            </a:custGeom>
            <a:solidFill>
              <a:srgbClr val="C93A0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039100" y="5023247"/>
            <a:ext cx="930059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SAM · THE ONES WE CAN REACH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39100" y="5448071"/>
            <a:ext cx="9300591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6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About 25,500 firms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39100" y="5832872"/>
            <a:ext cx="9300591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1 in 5 run their jobs over WhatsApp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620000" y="6573917"/>
            <a:ext cx="209550" cy="209550"/>
            <a:chOff x="0" y="0"/>
            <a:chExt cx="279400" cy="279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cubicBezTo>
                    <a:pt x="216916" y="0"/>
                    <a:pt x="279400" y="62484"/>
                    <a:pt x="279400" y="139700"/>
                  </a:cubicBezTo>
                  <a:cubicBezTo>
                    <a:pt x="279400" y="216916"/>
                    <a:pt x="216916" y="279400"/>
                    <a:pt x="139700" y="279400"/>
                  </a:cubicBezTo>
                  <a:cubicBezTo>
                    <a:pt x="62484" y="279400"/>
                    <a:pt x="0" y="216916"/>
                    <a:pt x="0" y="139700"/>
                  </a:cubicBez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039100" y="6526292"/>
            <a:ext cx="930059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SOM · OUR 3-YEAR GOAL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39100" y="6951107"/>
            <a:ext cx="9300591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6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About 500 firms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39100" y="7335917"/>
            <a:ext cx="9300591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2% of those: the ones we aim to win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9200" y="9012555"/>
            <a:ext cx="14716125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Circles not to scale. 128,000 = 102,657 construction firms (DOSM Economic Census 2023) plus about 25,000 others (our assumption). The 1 in 5 and the 2% are assumptions too.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47639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6203"/>
            <a:ext cx="231343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FUTURE PLAN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90471"/>
            <a:ext cx="16325088" cy="791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8"/>
              </a:lnSpc>
            </a:pPr>
            <a:r>
              <a:rPr lang="en-US" sz="6792" spc="-74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Prove it. Expand it. </a:t>
            </a:r>
            <a:r>
              <a:rPr lang="en-US" sz="6792" i="true" spc="-74">
                <a:solidFill>
                  <a:srgbClr val="3D25B8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Let it learn.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19200" y="2829401"/>
            <a:ext cx="342900" cy="342900"/>
            <a:chOff x="0" y="0"/>
            <a:chExt cx="457200" cy="45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FF5B2E"/>
            </a:solidFill>
            <a:ln w="57150" cap="sq">
              <a:solidFill>
                <a:srgbClr val="14101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62100" y="2972276"/>
            <a:ext cx="4483065" cy="57150"/>
            <a:chOff x="0" y="0"/>
            <a:chExt cx="597742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77382" cy="76200"/>
            </a:xfrm>
            <a:custGeom>
              <a:avLst/>
              <a:gdLst/>
              <a:ahLst/>
              <a:cxnLst/>
              <a:rect r="r" b="b" t="t" l="l"/>
              <a:pathLst>
                <a:path h="76200" w="5977382">
                  <a:moveTo>
                    <a:pt x="0" y="0"/>
                  </a:moveTo>
                  <a:lnTo>
                    <a:pt x="5977382" y="0"/>
                  </a:lnTo>
                  <a:lnTo>
                    <a:pt x="597738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19200" y="3267551"/>
            <a:ext cx="4970736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25">
                <a:solidFill>
                  <a:srgbClr val="C93A0B"/>
                </a:solidFill>
                <a:latin typeface="Roboto Mono"/>
                <a:ea typeface="Roboto Mono"/>
                <a:cs typeface="Roboto Mono"/>
                <a:sym typeface="Roboto Mono"/>
              </a:rPr>
              <a:t>Q1 2027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200" y="3871436"/>
            <a:ext cx="497073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51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Prove</a:t>
            </a:r>
          </a:p>
        </p:txBody>
      </p:sp>
      <p:sp>
        <p:nvSpPr>
          <p:cNvPr name="AutoShape 12" id="12"/>
          <p:cNvSpPr/>
          <p:nvPr/>
        </p:nvSpPr>
        <p:spPr>
          <a:xfrm rot="6780">
            <a:off x="1214438" y="4566761"/>
            <a:ext cx="4835500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219200" y="4622006"/>
            <a:ext cx="4970736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First paying event company</a:t>
            </a:r>
          </a:p>
        </p:txBody>
      </p:sp>
      <p:sp>
        <p:nvSpPr>
          <p:cNvPr name="AutoShape 14" id="14"/>
          <p:cNvSpPr/>
          <p:nvPr/>
        </p:nvSpPr>
        <p:spPr>
          <a:xfrm rot="6780">
            <a:off x="1214438" y="5130641"/>
            <a:ext cx="4835500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219200" y="5185886"/>
            <a:ext cx="4970736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Official WhatsApp Business API</a:t>
            </a:r>
          </a:p>
        </p:txBody>
      </p:sp>
      <p:sp>
        <p:nvSpPr>
          <p:cNvPr name="AutoShape 16" id="16"/>
          <p:cNvSpPr/>
          <p:nvPr/>
        </p:nvSpPr>
        <p:spPr>
          <a:xfrm rot="6780">
            <a:off x="1214438" y="5694531"/>
            <a:ext cx="4835500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219200" y="5749776"/>
            <a:ext cx="4970736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Measure changes caught and hours saved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64265" y="2829401"/>
            <a:ext cx="342900" cy="342900"/>
            <a:chOff x="0" y="0"/>
            <a:chExt cx="457200" cy="457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F3EEE4"/>
            </a:solidFill>
            <a:ln w="57150" cap="sq">
              <a:solidFill>
                <a:srgbClr val="14101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807165" y="2972276"/>
            <a:ext cx="4483179" cy="57150"/>
            <a:chOff x="0" y="0"/>
            <a:chExt cx="5977572" cy="76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77509" cy="76200"/>
            </a:xfrm>
            <a:custGeom>
              <a:avLst/>
              <a:gdLst/>
              <a:ahLst/>
              <a:cxnLst/>
              <a:rect r="r" b="b" t="t" l="l"/>
              <a:pathLst>
                <a:path h="76200" w="5977509">
                  <a:moveTo>
                    <a:pt x="0" y="0"/>
                  </a:moveTo>
                  <a:lnTo>
                    <a:pt x="5977509" y="0"/>
                  </a:lnTo>
                  <a:lnTo>
                    <a:pt x="597750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464265" y="3267551"/>
            <a:ext cx="4970859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2027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64265" y="3871436"/>
            <a:ext cx="4970859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51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Expand</a:t>
            </a:r>
          </a:p>
        </p:txBody>
      </p:sp>
      <p:sp>
        <p:nvSpPr>
          <p:cNvPr name="AutoShape 24" id="24"/>
          <p:cNvSpPr/>
          <p:nvPr/>
        </p:nvSpPr>
        <p:spPr>
          <a:xfrm rot="6780">
            <a:off x="6459493" y="4566761"/>
            <a:ext cx="4835614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6464265" y="4622006"/>
            <a:ext cx="4970859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More event firms</a:t>
            </a:r>
          </a:p>
        </p:txBody>
      </p:sp>
      <p:sp>
        <p:nvSpPr>
          <p:cNvPr name="AutoShape 26" id="26"/>
          <p:cNvSpPr/>
          <p:nvPr/>
        </p:nvSpPr>
        <p:spPr>
          <a:xfrm rot="6780">
            <a:off x="6459493" y="5130641"/>
            <a:ext cx="4835614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6464265" y="5185886"/>
            <a:ext cx="4970859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Renovation, catering, printing, wholesale</a:t>
            </a:r>
          </a:p>
        </p:txBody>
      </p:sp>
      <p:sp>
        <p:nvSpPr>
          <p:cNvPr name="AutoShape 28" id="28"/>
          <p:cNvSpPr/>
          <p:nvPr/>
        </p:nvSpPr>
        <p:spPr>
          <a:xfrm rot="6780">
            <a:off x="6459493" y="5694531"/>
            <a:ext cx="4835614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6464265" y="5749776"/>
            <a:ext cx="4970859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Orbyte add-on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709435" y="2829401"/>
            <a:ext cx="5359365" cy="4022760"/>
            <a:chOff x="0" y="0"/>
            <a:chExt cx="7145820" cy="5363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45782" cy="5363718"/>
            </a:xfrm>
            <a:custGeom>
              <a:avLst/>
              <a:gdLst/>
              <a:ahLst/>
              <a:cxnLst/>
              <a:rect r="r" b="b" t="t" l="l"/>
              <a:pathLst>
                <a:path h="5363718" w="7145782">
                  <a:moveTo>
                    <a:pt x="0" y="0"/>
                  </a:moveTo>
                  <a:lnTo>
                    <a:pt x="7145782" y="0"/>
                  </a:lnTo>
                  <a:lnTo>
                    <a:pt x="7145782" y="5363718"/>
                  </a:lnTo>
                  <a:lnTo>
                    <a:pt x="0" y="5363718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976135" y="3053239"/>
            <a:ext cx="342900" cy="342900"/>
            <a:chOff x="0" y="0"/>
            <a:chExt cx="457200" cy="457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FF5B2E"/>
            </a:solidFill>
            <a:ln w="57150" cap="sq">
              <a:solidFill>
                <a:srgbClr val="FF5B2E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319035" y="3195999"/>
            <a:ext cx="4483065" cy="57150"/>
            <a:chOff x="0" y="0"/>
            <a:chExt cx="5977420" cy="76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77382" cy="76200"/>
            </a:xfrm>
            <a:custGeom>
              <a:avLst/>
              <a:gdLst/>
              <a:ahLst/>
              <a:cxnLst/>
              <a:rect r="r" b="b" t="t" l="l"/>
              <a:pathLst>
                <a:path h="76200" w="5977382">
                  <a:moveTo>
                    <a:pt x="0" y="0"/>
                  </a:moveTo>
                  <a:lnTo>
                    <a:pt x="5977382" y="0"/>
                  </a:lnTo>
                  <a:lnTo>
                    <a:pt x="597738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976135" y="3486512"/>
            <a:ext cx="4970736" cy="41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2" spc="225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WITH ENOUGH DATA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976135" y="4099684"/>
            <a:ext cx="4970736" cy="562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2"/>
              </a:lnSpc>
            </a:pPr>
            <a:r>
              <a:rPr lang="en-US" sz="4972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Learn</a:t>
            </a:r>
          </a:p>
        </p:txBody>
      </p:sp>
      <p:sp>
        <p:nvSpPr>
          <p:cNvPr name="AutoShape 38" id="38"/>
          <p:cNvSpPr/>
          <p:nvPr/>
        </p:nvSpPr>
        <p:spPr>
          <a:xfrm rot="6780">
            <a:off x="11971372" y="4757614"/>
            <a:ext cx="4835500" cy="0"/>
          </a:xfrm>
          <a:prstGeom prst="line">
            <a:avLst/>
          </a:prstGeom>
          <a:ln cap="rnd" w="9525">
            <a:solidFill>
              <a:srgbClr val="3A2F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11976135" y="4812859"/>
            <a:ext cx="4970736" cy="403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2053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Train on every approved change</a:t>
            </a:r>
          </a:p>
        </p:txBody>
      </p:sp>
      <p:sp>
        <p:nvSpPr>
          <p:cNvPr name="AutoShape 40" id="40"/>
          <p:cNvSpPr/>
          <p:nvPr/>
        </p:nvSpPr>
        <p:spPr>
          <a:xfrm rot="6780">
            <a:off x="11971372" y="5311740"/>
            <a:ext cx="4835500" cy="0"/>
          </a:xfrm>
          <a:prstGeom prst="line">
            <a:avLst/>
          </a:prstGeom>
          <a:ln cap="rnd" w="9525">
            <a:solidFill>
              <a:srgbClr val="3A2F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11976135" y="5366985"/>
            <a:ext cx="4970736" cy="403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2053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Suggest extras before the client asks</a:t>
            </a:r>
          </a:p>
        </p:txBody>
      </p:sp>
      <p:sp>
        <p:nvSpPr>
          <p:cNvPr name="AutoShape 42" id="42"/>
          <p:cNvSpPr/>
          <p:nvPr/>
        </p:nvSpPr>
        <p:spPr>
          <a:xfrm rot="6780">
            <a:off x="11971372" y="5865857"/>
            <a:ext cx="4835500" cy="0"/>
          </a:xfrm>
          <a:prstGeom prst="line">
            <a:avLst/>
          </a:prstGeom>
          <a:ln cap="rnd" w="9525">
            <a:solidFill>
              <a:srgbClr val="3A2F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11976135" y="5921102"/>
            <a:ext cx="4970736" cy="740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067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Today: counts from past jobs, e.g. 4 of 4 demo dinners ran overtime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19200" y="7423671"/>
            <a:ext cx="15849600" cy="1339329"/>
            <a:chOff x="0" y="0"/>
            <a:chExt cx="21132800" cy="17857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132800" cy="1785747"/>
            </a:xfrm>
            <a:custGeom>
              <a:avLst/>
              <a:gdLst/>
              <a:ahLst/>
              <a:cxnLst/>
              <a:rect r="r" b="b" t="t" l="l"/>
              <a:pathLst>
                <a:path h="1785747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1785747"/>
                  </a:lnTo>
                  <a:lnTo>
                    <a:pt x="0" y="1785747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600200" y="7680846"/>
            <a:ext cx="15540228" cy="46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6"/>
              </a:lnSpc>
            </a:pPr>
            <a:r>
              <a:rPr lang="en-US" sz="3238" i="true">
                <a:solidFill>
                  <a:srgbClr val="FF5B2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Impact KPI:</a:t>
            </a:r>
            <a:r>
              <a:rPr lang="en-US" sz="3238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agreed changes that reach the bill, from an estimated </a:t>
            </a:r>
            <a:r>
              <a:rPr lang="en-US" sz="3238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75%</a:t>
            </a:r>
            <a:r>
              <a:rPr lang="en-US" sz="3238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to </a:t>
            </a:r>
            <a:r>
              <a:rPr lang="en-US" sz="3238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95%</a:t>
            </a:r>
            <a:r>
              <a:rPr lang="en-US" sz="3238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· final-bill time cut by half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00200" y="8169002"/>
            <a:ext cx="15540228" cy="403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1914" b="true">
                <a:solidFill>
                  <a:srgbClr val="B8A6FF"/>
                </a:solidFill>
                <a:latin typeface="Arimo Bold"/>
                <a:ea typeface="Arimo Bold"/>
                <a:cs typeface="Arimo Bold"/>
                <a:sym typeface="Arimo Bold"/>
              </a:rPr>
              <a:t>SDG 8.2 · 8.3:</a:t>
            </a:r>
            <a:r>
              <a:rPr lang="en-US" sz="1914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 small firms keep the revenue they have earned.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19200" y="9309735"/>
            <a:ext cx="417652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SMERGERS · TEAM VBALL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urple stage lights over banquet tables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89" r="0" b="-929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14101F">
                    <a:alpha val="97000"/>
                  </a:srgbClr>
                </a:gs>
                <a:gs pos="55000">
                  <a:srgbClr val="14101F">
                    <a:alpha val="88000"/>
                  </a:srgbClr>
                </a:gs>
                <a:gs pos="100000">
                  <a:srgbClr val="14101F">
                    <a:alpha val="30000"/>
                  </a:srgbClr>
                </a:gs>
              </a:gsLst>
              <a:lin ang="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" y="1133123"/>
            <a:ext cx="152400" cy="152400"/>
            <a:chOff x="0" y="0"/>
            <a:chExt cx="203200" cy="203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19200" y="5108257"/>
            <a:ext cx="1283246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TEAM VBALL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19200" y="5685472"/>
            <a:ext cx="685800" cy="685800"/>
            <a:chOff x="0" y="0"/>
            <a:chExt cx="9144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F5B2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  <a:r>
                <a:rPr lang="en-US" sz="1950">
                  <a:solidFill>
                    <a:srgbClr val="14101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VC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9200" y="6580822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B8A6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  <a:r>
                <a:rPr lang="en-US" sz="1950">
                  <a:solidFill>
                    <a:srgbClr val="14101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9200" y="7476172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3EE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  <a:r>
                <a:rPr lang="en-US" sz="1950">
                  <a:solidFill>
                    <a:srgbClr val="14101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LW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211300" y="5547360"/>
            <a:ext cx="2857500" cy="3215640"/>
            <a:chOff x="0" y="0"/>
            <a:chExt cx="3810000" cy="4287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0000" cy="4287520"/>
            </a:xfrm>
            <a:custGeom>
              <a:avLst/>
              <a:gdLst/>
              <a:ahLst/>
              <a:cxnLst/>
              <a:rect r="r" b="b" t="t" l="l"/>
              <a:pathLst>
                <a:path h="428752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4287520"/>
                  </a:lnTo>
                  <a:lnTo>
                    <a:pt x="0" y="4287520"/>
                  </a:lnTo>
                  <a:close/>
                </a:path>
              </a:pathLst>
            </a:custGeom>
            <a:solidFill>
              <a:srgbClr val="F3EEE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434638" y="5737361"/>
            <a:ext cx="2359842" cy="235984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524000" y="1001792"/>
            <a:ext cx="147218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OUR ASK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9200" y="1809150"/>
            <a:ext cx="14716125" cy="193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08"/>
              </a:lnSpc>
            </a:pPr>
            <a:r>
              <a:rPr lang="en-US" sz="8550" spc="-225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Catch it.</a:t>
            </a:r>
          </a:p>
          <a:p>
            <a:pPr algn="l">
              <a:lnSpc>
                <a:spcPts val="8208"/>
              </a:lnSpc>
            </a:pPr>
            <a:r>
              <a:rPr lang="en-US" sz="8550" spc="-225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Confirm it. </a:t>
            </a:r>
            <a:r>
              <a:rPr lang="en-US" sz="8550" i="true" spc="-225">
                <a:solidFill>
                  <a:srgbClr val="FF5B2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Sync it.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9200" y="4008711"/>
            <a:ext cx="12263438" cy="1045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2"/>
              </a:lnSpc>
            </a:pPr>
            <a:r>
              <a:rPr lang="en-US" sz="3766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 </a:t>
            </a:r>
            <a:r>
              <a:rPr lang="en-US" sz="3766" i="true">
                <a:solidFill>
                  <a:srgbClr val="FF5B2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four-week pilot</a:t>
            </a:r>
            <a:r>
              <a:rPr lang="en-US" sz="3766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with three to five event companies. Know a firm that runs its jobs over WhatsApp? </a:t>
            </a:r>
            <a:r>
              <a:rPr lang="en-US" sz="3766">
                <a:solidFill>
                  <a:srgbClr val="B8A6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Introduce us.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95500" y="5721667"/>
            <a:ext cx="4142946" cy="58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3EEE4"/>
                </a:solidFill>
                <a:latin typeface="Arimo"/>
                <a:ea typeface="Arimo"/>
                <a:cs typeface="Arimo"/>
                <a:sym typeface="Arimo"/>
              </a:rPr>
              <a:t>Vincent Chew Wen Jie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95500" y="6617018"/>
            <a:ext cx="4411694" cy="58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3EEE4"/>
                </a:solidFill>
                <a:latin typeface="Arimo"/>
                <a:ea typeface="Arimo"/>
                <a:cs typeface="Arimo"/>
                <a:sym typeface="Arimo"/>
              </a:rPr>
              <a:t>Steven Elnathan Meliala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95500" y="7512368"/>
            <a:ext cx="2505170" cy="58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F3EEE4"/>
                </a:solidFill>
                <a:latin typeface="Arimo"/>
                <a:ea typeface="Arimo"/>
                <a:cs typeface="Arimo"/>
                <a:sym typeface="Arimo"/>
              </a:rPr>
              <a:t>Looi Wan Wei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9200" y="8381047"/>
            <a:ext cx="12832461" cy="420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CFC8E4"/>
                </a:solidFill>
                <a:latin typeface="Arimo"/>
                <a:ea typeface="Arimo"/>
                <a:cs typeface="Arimo"/>
                <a:sym typeface="Arimo"/>
              </a:rPr>
              <a:t>Orbyte Smart SME Challenge · Domain 2 · SDG 8.2 · 8.3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241018" y="8261985"/>
            <a:ext cx="279806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Scan for the code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9200" y="9321175"/>
            <a:ext cx="14716125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A59DC0"/>
                </a:solidFill>
                <a:latin typeface="Arimo"/>
                <a:ea typeface="Arimo"/>
                <a:cs typeface="Arimo"/>
                <a:sym typeface="Arimo"/>
              </a:rPr>
              <a:t>github.com/Anonys-sky/SMErgers · Apache 2.0 · Live demo: sm-ergers-1.replit.app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59DC0"/>
                </a:solidFill>
                <a:latin typeface="Roboto Mono"/>
                <a:ea typeface="Roboto Mono"/>
                <a:cs typeface="Roboto Mono"/>
                <a:sym typeface="Roboto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48363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6918"/>
            <a:ext cx="441655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DOES THE READER WORK?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72841"/>
            <a:ext cx="16325088" cy="1465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3"/>
              </a:lnSpc>
            </a:pPr>
            <a:r>
              <a:rPr lang="en-US" sz="5925" spc="-74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On chats it had never seen, the AI reader spotted </a:t>
            </a:r>
            <a:r>
              <a:rPr lang="en-US" sz="5925" i="true" spc="-74">
                <a:solidFill>
                  <a:srgbClr val="3D25B8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91% of the changes.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254215" y="3486388"/>
            <a:ext cx="2857500" cy="2814990"/>
            <a:chOff x="0" y="0"/>
            <a:chExt cx="3810000" cy="3753320"/>
          </a:xfrm>
        </p:grpSpPr>
        <p:sp>
          <p:nvSpPr>
            <p:cNvPr name="Freeform 7" id="7" descr="AI reader spotted 59 of 65 changes, 91 percent"/>
            <p:cNvSpPr/>
            <p:nvPr/>
          </p:nvSpPr>
          <p:spPr>
            <a:xfrm flipH="false" flipV="false" rot="0">
              <a:off x="0" y="0"/>
              <a:ext cx="3810000" cy="3753358"/>
            </a:xfrm>
            <a:custGeom>
              <a:avLst/>
              <a:gdLst/>
              <a:ahLst/>
              <a:cxnLst/>
              <a:rect r="r" b="b" t="t" l="l"/>
              <a:pathLst>
                <a:path h="3753358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753358"/>
                  </a:lnTo>
                  <a:lnTo>
                    <a:pt x="0" y="375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743" t="0" r="744" b="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188359" y="6444263"/>
            <a:ext cx="2989088" cy="44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2"/>
              </a:lnSpc>
            </a:pPr>
            <a:r>
              <a:rPr lang="en-US" sz="345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Spots the change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50497" y="6907054"/>
            <a:ext cx="3064812" cy="39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</a:pPr>
            <a:r>
              <a:rPr lang="en-US" sz="1932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59 of 65 changes found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715136" y="3486388"/>
            <a:ext cx="2857500" cy="2814990"/>
            <a:chOff x="0" y="0"/>
            <a:chExt cx="3810000" cy="3753320"/>
          </a:xfrm>
        </p:grpSpPr>
        <p:sp>
          <p:nvSpPr>
            <p:cNvPr name="Freeform 11" id="11" descr="AI reader fully right on 44 of 65 changes, 68 percent"/>
            <p:cNvSpPr/>
            <p:nvPr/>
          </p:nvSpPr>
          <p:spPr>
            <a:xfrm flipH="false" flipV="false" rot="0">
              <a:off x="0" y="0"/>
              <a:ext cx="3810000" cy="3753358"/>
            </a:xfrm>
            <a:custGeom>
              <a:avLst/>
              <a:gdLst/>
              <a:ahLst/>
              <a:cxnLst/>
              <a:rect r="r" b="b" t="t" l="l"/>
              <a:pathLst>
                <a:path h="3753358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753358"/>
                  </a:lnTo>
                  <a:lnTo>
                    <a:pt x="0" y="375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743" t="0" r="744" b="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214036" y="6444263"/>
            <a:ext cx="1859804" cy="44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2"/>
              </a:lnSpc>
            </a:pPr>
            <a:r>
              <a:rPr lang="en-US" sz="345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Fully right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28895" y="6907054"/>
            <a:ext cx="4429982" cy="39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</a:pPr>
            <a:r>
              <a:rPr lang="en-US" sz="1932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44 of 65: change, price and status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176171" y="3486388"/>
            <a:ext cx="2857500" cy="2814990"/>
            <a:chOff x="0" y="0"/>
            <a:chExt cx="3810000" cy="3753320"/>
          </a:xfrm>
        </p:grpSpPr>
        <p:sp>
          <p:nvSpPr>
            <p:cNvPr name="Freeform 15" id="15" descr="After fixes on the same chats, 54 of 65, 83 percent"/>
            <p:cNvSpPr/>
            <p:nvPr/>
          </p:nvSpPr>
          <p:spPr>
            <a:xfrm flipH="false" flipV="false" rot="0">
              <a:off x="0" y="0"/>
              <a:ext cx="3810000" cy="3753358"/>
            </a:xfrm>
            <a:custGeom>
              <a:avLst/>
              <a:gdLst/>
              <a:ahLst/>
              <a:cxnLst/>
              <a:rect r="r" b="b" t="t" l="l"/>
              <a:pathLst>
                <a:path h="3753358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753358"/>
                  </a:lnTo>
                  <a:lnTo>
                    <a:pt x="0" y="375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743" t="0" r="744" b="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256314" y="6444263"/>
            <a:ext cx="2697337" cy="44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2"/>
              </a:lnSpc>
            </a:pPr>
            <a:r>
              <a:rPr lang="en-US" sz="345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After our fixes*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47884" y="6907054"/>
            <a:ext cx="2714196" cy="393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</a:pPr>
            <a:r>
              <a:rPr lang="en-US" sz="1932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54 of 65, same chats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19200" y="7833836"/>
            <a:ext cx="15849600" cy="929164"/>
            <a:chOff x="0" y="0"/>
            <a:chExt cx="21132800" cy="12388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132800" cy="1238885"/>
            </a:xfrm>
            <a:custGeom>
              <a:avLst/>
              <a:gdLst/>
              <a:ahLst/>
              <a:cxnLst/>
              <a:rect r="r" b="b" t="t" l="l"/>
              <a:pathLst>
                <a:path h="1238885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1238885"/>
                  </a:lnTo>
                  <a:lnTo>
                    <a:pt x="0" y="1238885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600200" y="8110061"/>
            <a:ext cx="15540228" cy="44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3150" i="true">
                <a:solidFill>
                  <a:srgbClr val="FF5B2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Plain rules alone:</a:t>
            </a:r>
            <a:r>
              <a:rPr lang="en-US" sz="315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75% spotted, 32% fully right. So the AI reads, code checks every price, and a person approves.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9200" y="9012555"/>
            <a:ext cx="14716125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7 chats, 65 changes, written by outside agents who never saw our code; answer key written before scoring. *Light donut: same chats after we fixed its mistakes, so not independent. Every run: docs/results.md.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2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21031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APPENDIX 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20225"/>
            <a:ext cx="16325088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6000" spc="-75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Hard questions, plain answers</a:t>
            </a:r>
          </a:p>
        </p:txBody>
      </p:sp>
      <p:sp>
        <p:nvSpPr>
          <p:cNvPr name="AutoShape 6" id="6"/>
          <p:cNvSpPr/>
          <p:nvPr/>
        </p:nvSpPr>
        <p:spPr>
          <a:xfrm rot="8220">
            <a:off x="1209665" y="2626052"/>
            <a:ext cx="7943869" cy="0"/>
          </a:xfrm>
          <a:prstGeom prst="line">
            <a:avLst/>
          </a:prstGeom>
          <a:ln cap="rnd" w="9525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219200" y="2807980"/>
            <a:ext cx="8162544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 i="true">
                <a:solidFill>
                  <a:srgbClr val="14101F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“Isn’t it just an invoice maker?”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3200400"/>
            <a:ext cx="8162544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A3550"/>
                </a:solidFill>
                <a:latin typeface="Arimo"/>
                <a:ea typeface="Arimo"/>
                <a:cs typeface="Arimo"/>
                <a:sym typeface="Arimo"/>
              </a:rPr>
              <a:t>No. It finds and confirms what was agreed. Invoicing stays in accounting software.</a:t>
            </a:r>
          </a:p>
        </p:txBody>
      </p:sp>
      <p:sp>
        <p:nvSpPr>
          <p:cNvPr name="AutoShape 9" id="9"/>
          <p:cNvSpPr/>
          <p:nvPr/>
        </p:nvSpPr>
        <p:spPr>
          <a:xfrm rot="8220">
            <a:off x="9134465" y="2626052"/>
            <a:ext cx="7943869" cy="0"/>
          </a:xfrm>
          <a:prstGeom prst="line">
            <a:avLst/>
          </a:prstGeom>
          <a:ln cap="rnd" w="9525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9144000" y="2807980"/>
            <a:ext cx="8162544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 i="true">
                <a:solidFill>
                  <a:srgbClr val="14101F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“Why not just write it down?”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3200400"/>
            <a:ext cx="8162544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A3550"/>
                </a:solidFill>
                <a:latin typeface="Arimo"/>
                <a:ea typeface="Arimo"/>
                <a:cs typeface="Arimo"/>
                <a:sym typeface="Arimo"/>
              </a:rPr>
              <a:t>Deals happen mid-chat at 11 pm. We read the chat they already use.</a:t>
            </a:r>
          </a:p>
        </p:txBody>
      </p:sp>
      <p:sp>
        <p:nvSpPr>
          <p:cNvPr name="AutoShape 12" id="12"/>
          <p:cNvSpPr/>
          <p:nvPr/>
        </p:nvSpPr>
        <p:spPr>
          <a:xfrm rot="8220">
            <a:off x="1209665" y="3887153"/>
            <a:ext cx="7943869" cy="0"/>
          </a:xfrm>
          <a:prstGeom prst="line">
            <a:avLst/>
          </a:prstGeom>
          <a:ln cap="rnd" w="9525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219200" y="4069090"/>
            <a:ext cx="8162544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 i="true">
                <a:solidFill>
                  <a:srgbClr val="14101F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“How accurate is it?”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9200" y="4461510"/>
            <a:ext cx="8162544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A3550"/>
                </a:solidFill>
                <a:latin typeface="Arimo"/>
                <a:ea typeface="Arimo"/>
                <a:cs typeface="Arimo"/>
                <a:sym typeface="Arimo"/>
              </a:rPr>
              <a:t>On 65 changes in chats written by outsiders, the AI reader spotted 91% and got 68% fully right; plain rules 75% and 32%. After our fixes, 83% fully right on those same chats (not independent). Small synthetic samples, so a pilot comes next.</a:t>
            </a:r>
          </a:p>
        </p:txBody>
      </p:sp>
      <p:sp>
        <p:nvSpPr>
          <p:cNvPr name="AutoShape 15" id="15"/>
          <p:cNvSpPr/>
          <p:nvPr/>
        </p:nvSpPr>
        <p:spPr>
          <a:xfrm rot="8220">
            <a:off x="9134465" y="3887153"/>
            <a:ext cx="7943869" cy="0"/>
          </a:xfrm>
          <a:prstGeom prst="line">
            <a:avLst/>
          </a:prstGeom>
          <a:ln cap="rnd" w="9525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9144000" y="4069090"/>
            <a:ext cx="8162544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 i="true">
                <a:solidFill>
                  <a:srgbClr val="14101F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“Is the AI reader proven?”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4461510"/>
            <a:ext cx="8162544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A3550"/>
                </a:solidFill>
                <a:latin typeface="Arimo"/>
                <a:ea typeface="Arimo"/>
                <a:cs typeface="Arimo"/>
                <a:sym typeface="Arimo"/>
              </a:rPr>
              <a:t>Not on real chats yet. The pilot tests that.</a:t>
            </a:r>
          </a:p>
        </p:txBody>
      </p:sp>
      <p:sp>
        <p:nvSpPr>
          <p:cNvPr name="AutoShape 18" id="18"/>
          <p:cNvSpPr/>
          <p:nvPr/>
        </p:nvSpPr>
        <p:spPr>
          <a:xfrm rot="8220">
            <a:off x="1209665" y="5792153"/>
            <a:ext cx="7943869" cy="0"/>
          </a:xfrm>
          <a:prstGeom prst="line">
            <a:avLst/>
          </a:prstGeom>
          <a:ln cap="rnd" w="9525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219200" y="5974090"/>
            <a:ext cx="8162544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 i="true">
                <a:solidFill>
                  <a:srgbClr val="14101F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“Is reading WhatsApp allowed?”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9200" y="6366510"/>
            <a:ext cx="8162544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A3550"/>
                </a:solidFill>
                <a:latin typeface="Arimo"/>
                <a:ea typeface="Arimo"/>
                <a:cs typeface="Arimo"/>
                <a:sym typeface="Arimo"/>
              </a:rPr>
              <a:t>Through Meta’s official API, in groups the business creates, with consent.</a:t>
            </a:r>
          </a:p>
        </p:txBody>
      </p:sp>
      <p:sp>
        <p:nvSpPr>
          <p:cNvPr name="AutoShape 21" id="21"/>
          <p:cNvSpPr/>
          <p:nvPr/>
        </p:nvSpPr>
        <p:spPr>
          <a:xfrm rot="8220">
            <a:off x="9134465" y="5792153"/>
            <a:ext cx="7943869" cy="0"/>
          </a:xfrm>
          <a:prstGeom prst="line">
            <a:avLst/>
          </a:prstGeom>
          <a:ln cap="rnd" w="9525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9144000" y="5974090"/>
            <a:ext cx="8162544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 i="true">
                <a:solidFill>
                  <a:srgbClr val="14101F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“What if the client never confirms?”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0" y="6366510"/>
            <a:ext cx="8162544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A3550"/>
                </a:solidFill>
                <a:latin typeface="Arimo"/>
                <a:ea typeface="Arimo"/>
                <a:cs typeface="Arimo"/>
                <a:sym typeface="Arimo"/>
              </a:rPr>
              <a:t>It stays off the bill, on the director’s list. Nothing is billed silently.</a:t>
            </a:r>
          </a:p>
        </p:txBody>
      </p:sp>
      <p:sp>
        <p:nvSpPr>
          <p:cNvPr name="AutoShape 24" id="24"/>
          <p:cNvSpPr/>
          <p:nvPr/>
        </p:nvSpPr>
        <p:spPr>
          <a:xfrm rot="8220">
            <a:off x="1209665" y="7053262"/>
            <a:ext cx="7943869" cy="0"/>
          </a:xfrm>
          <a:prstGeom prst="line">
            <a:avLst/>
          </a:prstGeom>
          <a:ln cap="rnd" w="9525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219200" y="7235190"/>
            <a:ext cx="8162544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 i="true">
                <a:solidFill>
                  <a:srgbClr val="14101F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“Will owners pay RM100?”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9200" y="7627630"/>
            <a:ext cx="8162544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A3550"/>
                </a:solidFill>
                <a:latin typeface="Arimo"/>
                <a:ea typeface="Arimo"/>
                <a:cs typeface="Arimo"/>
                <a:sym typeface="Arimo"/>
              </a:rPr>
              <a:t>The pilot tests it. Break-even is 3% of extras recovered.</a:t>
            </a:r>
          </a:p>
        </p:txBody>
      </p:sp>
      <p:sp>
        <p:nvSpPr>
          <p:cNvPr name="AutoShape 27" id="27"/>
          <p:cNvSpPr/>
          <p:nvPr/>
        </p:nvSpPr>
        <p:spPr>
          <a:xfrm rot="8220">
            <a:off x="9134465" y="7053262"/>
            <a:ext cx="7943869" cy="0"/>
          </a:xfrm>
          <a:prstGeom prst="line">
            <a:avLst/>
          </a:prstGeom>
          <a:ln cap="rnd" w="9525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9144000" y="7235190"/>
            <a:ext cx="8162544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 i="true">
                <a:solidFill>
                  <a:srgbClr val="14101F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“What if a message is misread?”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0" y="7627630"/>
            <a:ext cx="8162544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A3550"/>
                </a:solidFill>
                <a:latin typeface="Arimo"/>
                <a:ea typeface="Arimo"/>
                <a:cs typeface="Arimo"/>
                <a:sym typeface="Arimo"/>
              </a:rPr>
              <a:t>Unclear items go to a person. Nothing reaches the bill without a check and the client’s yes.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9200" y="932116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Rehearse these with a teammate playing a hostile judge.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931640" y="9309735"/>
            <a:ext cx="21336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3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378561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RESULT IN OUR TEST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86890"/>
            <a:ext cx="1632508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600" spc="-74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Every agreed change </a:t>
            </a:r>
            <a:r>
              <a:rPr lang="en-US" sz="6600" i="true" spc="-74">
                <a:solidFill>
                  <a:srgbClr val="3D25B8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reached the bill.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41933" y="2813209"/>
            <a:ext cx="3143250" cy="3143250"/>
            <a:chOff x="0" y="0"/>
            <a:chExt cx="4191000" cy="4191000"/>
          </a:xfrm>
        </p:grpSpPr>
        <p:sp>
          <p:nvSpPr>
            <p:cNvPr name="Freeform 7" id="7" descr="48 of 48 agreed changes reached the bill, 100 percent"/>
            <p:cNvSpPr/>
            <p:nvPr/>
          </p:nvSpPr>
          <p:spPr>
            <a:xfrm flipH="false" flipV="false" rot="0">
              <a:off x="0" y="0"/>
              <a:ext cx="4191000" cy="4191000"/>
            </a:xfrm>
            <a:custGeom>
              <a:avLst/>
              <a:gdLst/>
              <a:ahLst/>
              <a:cxnLst/>
              <a:rect r="r" b="b" t="t" l="l"/>
              <a:pathLst>
                <a:path h="41910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4191000"/>
                  </a:lnTo>
                  <a:lnTo>
                    <a:pt x="0" y="419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141078" y="6099334"/>
            <a:ext cx="2944940" cy="45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2"/>
              </a:lnSpc>
            </a:pPr>
            <a:r>
              <a:rPr lang="en-US" sz="345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48 of 48 changes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3811" y="6568916"/>
            <a:ext cx="7519368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5"/>
              </a:lnSpc>
            </a:pPr>
            <a:r>
              <a:rPr lang="en-US" sz="195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across 11 chats. Starting point: about 75% (our estimate).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22306" y="3245177"/>
            <a:ext cx="839088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TIME TO BUILD THE FINAL BILL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22306" y="3782378"/>
            <a:ext cx="226695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By hand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303556" y="3803342"/>
            <a:ext cx="3619500" cy="419100"/>
            <a:chOff x="0" y="0"/>
            <a:chExt cx="4826000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26000" cy="558800"/>
            </a:xfrm>
            <a:custGeom>
              <a:avLst/>
              <a:gdLst/>
              <a:ahLst/>
              <a:cxnLst/>
              <a:rect r="r" b="b" t="t" l="l"/>
              <a:pathLst>
                <a:path h="55880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E6DFD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303556" y="3803342"/>
            <a:ext cx="3619500" cy="419100"/>
            <a:chOff x="0" y="0"/>
            <a:chExt cx="4826000" cy="55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6000" cy="558800"/>
            </a:xfrm>
            <a:custGeom>
              <a:avLst/>
              <a:gdLst/>
              <a:ahLst/>
              <a:cxnLst/>
              <a:rect r="r" b="b" t="t" l="l"/>
              <a:pathLst>
                <a:path h="55880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6B6478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037356" y="3801428"/>
            <a:ext cx="198120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261 min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22306" y="4391978"/>
            <a:ext cx="226695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SMErgers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303556" y="4412942"/>
            <a:ext cx="3619500" cy="419100"/>
            <a:chOff x="0" y="0"/>
            <a:chExt cx="4826000" cy="55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26000" cy="558800"/>
            </a:xfrm>
            <a:custGeom>
              <a:avLst/>
              <a:gdLst/>
              <a:ahLst/>
              <a:cxnLst/>
              <a:rect r="r" b="b" t="t" l="l"/>
              <a:pathLst>
                <a:path h="55880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E6DFD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303556" y="4412942"/>
            <a:ext cx="723900" cy="419100"/>
            <a:chOff x="0" y="0"/>
            <a:chExt cx="965200" cy="55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5200" cy="558800"/>
            </a:xfrm>
            <a:custGeom>
              <a:avLst/>
              <a:gdLst/>
              <a:ahLst/>
              <a:cxnLst/>
              <a:rect r="r" b="b" t="t" l="l"/>
              <a:pathLst>
                <a:path h="558800" w="965200">
                  <a:moveTo>
                    <a:pt x="0" y="0"/>
                  </a:moveTo>
                  <a:lnTo>
                    <a:pt x="965200" y="0"/>
                  </a:lnTo>
                  <a:lnTo>
                    <a:pt x="9652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5037356" y="4411028"/>
            <a:ext cx="198120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53 min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22306" y="5155892"/>
            <a:ext cx="8390887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>
                <a:solidFill>
                  <a:srgbClr val="3D25B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80% less time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22306" y="6089342"/>
            <a:ext cx="8390887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Modelled from stated assumptions. A timed test with people is next.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19200" y="7785735"/>
            <a:ext cx="15849600" cy="977265"/>
            <a:chOff x="0" y="0"/>
            <a:chExt cx="21132800" cy="1303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132800" cy="1303020"/>
            </a:xfrm>
            <a:custGeom>
              <a:avLst/>
              <a:gdLst/>
              <a:ahLst/>
              <a:cxnLst/>
              <a:rect r="r" b="b" t="t" l="l"/>
              <a:pathLst>
                <a:path h="1303020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1303020"/>
                  </a:lnTo>
                  <a:lnTo>
                    <a:pt x="0" y="1303020"/>
                  </a:lnTo>
                  <a:close/>
                </a:path>
              </a:pathLst>
            </a:custGeom>
            <a:solidFill>
              <a:srgbClr val="14101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38100"/>
              <a:ext cx="21132800" cy="126492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795"/>
                </a:lnSpc>
              </a:pPr>
              <a:r>
                <a:rPr lang="en-US" sz="3450" i="true">
                  <a:solidFill>
                    <a:srgbClr val="FF5B2E"/>
                  </a:solidFill>
                  <a:latin typeface="Instrument Serif Italics"/>
                  <a:ea typeface="Instrument Serif Italics"/>
                  <a:cs typeface="Instrument Serif Italics"/>
                  <a:sym typeface="Instrument Serif Italics"/>
                </a:rPr>
                <a:t>The reader proposes, a person finishes:</a:t>
              </a:r>
              <a:r>
                <a:rPr lang="en-US" sz="3450">
                  <a:solidFill>
                    <a:srgbClr val="F3EEE4"/>
                  </a:solidFill>
                  <a:latin typeface="Instrument Serif"/>
                  <a:ea typeface="Instrument Serif"/>
                  <a:cs typeface="Instrument Serif"/>
                  <a:sym typeface="Instrument Serif"/>
                </a:rPr>
                <a:t> 13 fixed, 2 added and 3 rejected along the way.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19200" y="932116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A person checked every change. Reproduce with python src/benefit.py; assumptions are at the top of that file. Report: docs/benefit.md.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3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21031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APPENDIX 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77365"/>
            <a:ext cx="16325088" cy="749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6"/>
              </a:lnSpc>
            </a:pPr>
            <a:r>
              <a:rPr lang="en-US" sz="6300" spc="-75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Limits, stated plainly</a:t>
            </a:r>
          </a:p>
        </p:txBody>
      </p:sp>
      <p:sp>
        <p:nvSpPr>
          <p:cNvPr name="AutoShape 6" id="6"/>
          <p:cNvSpPr/>
          <p:nvPr/>
        </p:nvSpPr>
        <p:spPr>
          <a:xfrm>
            <a:off x="1181097" y="2774394"/>
            <a:ext cx="4767384" cy="0"/>
          </a:xfrm>
          <a:prstGeom prst="line">
            <a:avLst/>
          </a:prstGeom>
          <a:ln cap="rnd" w="38100">
            <a:solidFill>
              <a:srgbClr val="3D25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219200" y="2964894"/>
            <a:ext cx="4879134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NOT YET PROVEN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3464014"/>
            <a:ext cx="48791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Real chats. Everything is synthetic.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9200" y="3987889"/>
            <a:ext cx="487913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Real owners paying. A 7-person survey, no interviews yet.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9200" y="4883239"/>
            <a:ext cx="487913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The time saved. Modelled, timed test pending.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200" y="5778589"/>
            <a:ext cx="487913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Official WhatsApp groups. Needs a verified business.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461042" y="2774393"/>
            <a:ext cx="4917361" cy="1"/>
          </a:xfrm>
          <a:prstGeom prst="line">
            <a:avLst/>
          </a:prstGeom>
          <a:ln cap="rnd" w="38100">
            <a:solidFill>
              <a:srgbClr val="FF5B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489621" y="2964894"/>
            <a:ext cx="4879257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25">
                <a:solidFill>
                  <a:srgbClr val="C93A0B"/>
                </a:solidFill>
                <a:latin typeface="Roboto Mono"/>
                <a:ea typeface="Roboto Mono"/>
                <a:cs typeface="Roboto Mono"/>
                <a:sym typeface="Roboto Mono"/>
              </a:rPr>
              <a:t>KNOWN WEAKNESSES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89621" y="3464014"/>
            <a:ext cx="4879257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The AI reader can call an unconfirmed change ready.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89621" y="4359364"/>
            <a:ext cx="48792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It can price a "price later" item.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89621" y="4883239"/>
            <a:ext cx="4879257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Data is in memory and resets on restart.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89621" y="5778589"/>
            <a:ext cx="4879257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Sign-in is simulated; roles are enforced.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760165" y="2774394"/>
            <a:ext cx="5308635" cy="3785235"/>
            <a:chOff x="0" y="0"/>
            <a:chExt cx="7078180" cy="50469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78218" cy="5046980"/>
            </a:xfrm>
            <a:custGeom>
              <a:avLst/>
              <a:gdLst/>
              <a:ahLst/>
              <a:cxnLst/>
              <a:rect r="r" b="b" t="t" l="l"/>
              <a:pathLst>
                <a:path h="5046980" w="7078218">
                  <a:moveTo>
                    <a:pt x="0" y="0"/>
                  </a:moveTo>
                  <a:lnTo>
                    <a:pt x="7078218" y="0"/>
                  </a:lnTo>
                  <a:lnTo>
                    <a:pt x="7078218" y="5046980"/>
                  </a:lnTo>
                  <a:lnTo>
                    <a:pt x="0" y="5046980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AutoShape 20" id="20"/>
          <p:cNvSpPr/>
          <p:nvPr/>
        </p:nvSpPr>
        <p:spPr>
          <a:xfrm>
            <a:off x="11722059" y="2774382"/>
            <a:ext cx="5384838" cy="12"/>
          </a:xfrm>
          <a:prstGeom prst="line">
            <a:avLst/>
          </a:prstGeom>
          <a:ln cap="rnd" w="38100">
            <a:solidFill>
              <a:srgbClr val="FF5B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2045915" y="2964894"/>
            <a:ext cx="4879257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25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SAFEGUARD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45915" y="3540214"/>
            <a:ext cx="4879257" cy="144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sz="345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 person checks every change. The client confirms. The log records both.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9200" y="932116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Sources for every number: docs/results.md and docs/benefit.md in the repository.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3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168249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824990"/>
            <a:ext cx="1632508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600" spc="-74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People stay in control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234440" y="2904645"/>
          <a:ext cx="15811500" cy="3562350"/>
        </p:xfrm>
        <a:graphic>
          <a:graphicData uri="http://schemas.openxmlformats.org/drawingml/2006/table">
            <a:tbl>
              <a:tblPr/>
              <a:tblGrid>
                <a:gridCol w="3491373"/>
                <a:gridCol w="6631009"/>
                <a:gridCol w="5689118"/>
              </a:tblGrid>
              <a:tr h="7705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90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F3EEE4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Who</a:t>
                      </a:r>
                      <a:endParaRPr lang="en-US" sz="1100"/>
                    </a:p>
                  </a:txBody>
                  <a:tcPr marL="84455" marR="84455" marT="84455" marB="8445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90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F3EEE4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Can</a:t>
                      </a:r>
                      <a:endParaRPr lang="en-US" sz="1100"/>
                    </a:p>
                  </a:txBody>
                  <a:tcPr marL="84455" marR="84455" marT="84455" marB="84455" anchor="t">
                    <a:lnL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90"/>
                        </a:lnSpc>
                        <a:defRPr/>
                      </a:pPr>
                      <a:r>
                        <a:rPr lang="en-US" sz="2850" b="true">
                          <a:solidFill>
                            <a:srgbClr val="F3EEE4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Cannot</a:t>
                      </a:r>
                      <a:endParaRPr lang="en-US" sz="1100"/>
                    </a:p>
                  </a:txBody>
                  <a:tcPr marL="84455" marR="84455" marT="84455" marB="84455" anchor="t">
                    <a:lnL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</a:tr>
              <a:tr h="7705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90"/>
                        </a:lnSpc>
                        <a:defRPr/>
                      </a:pPr>
                      <a:r>
                        <a:rPr lang="en-US" sz="28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Project manager</a:t>
                      </a:r>
                      <a:endParaRPr lang="en-US" sz="1100"/>
                    </a:p>
                  </a:txBody>
                  <a:tcPr marL="84455" marR="84455" marT="84455" marB="8445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90"/>
                        </a:lnSpc>
                        <a:defRPr/>
                      </a:pPr>
                      <a:r>
                        <a:rPr lang="en-US" sz="28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Check, add a missing price, reject</a:t>
                      </a:r>
                      <a:endParaRPr lang="en-US" sz="1100"/>
                    </a:p>
                  </a:txBody>
                  <a:tcPr marL="84455" marR="84455" marT="84455" marB="8445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90"/>
                        </a:lnSpc>
                        <a:defRPr/>
                      </a:pPr>
                      <a:r>
                        <a:rPr lang="en-US" sz="28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Approve big items or discounts</a:t>
                      </a:r>
                      <a:endParaRPr lang="en-US" sz="1100"/>
                    </a:p>
                  </a:txBody>
                  <a:tcPr marL="84455" marR="84455" marT="84455" marB="8445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06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90"/>
                        </a:lnSpc>
                        <a:defRPr/>
                      </a:pPr>
                      <a:r>
                        <a:rPr lang="en-US" sz="28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Project director</a:t>
                      </a:r>
                      <a:endParaRPr lang="en-US" sz="1100"/>
                    </a:p>
                  </a:txBody>
                  <a:tcPr marL="84455" marR="84455" marT="84455" marB="8445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90"/>
                        </a:lnSpc>
                        <a:defRPr/>
                      </a:pPr>
                      <a:r>
                        <a:rPr lang="en-US" sz="28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Approve RM500 or more, decide discounts</a:t>
                      </a:r>
                      <a:endParaRPr lang="en-US" sz="1100"/>
                    </a:p>
                  </a:txBody>
                  <a:tcPr marL="84455" marR="84455" marT="84455" marB="84455" anchor="t">
                    <a:lnL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90"/>
                        </a:lnSpc>
                        <a:defRPr/>
                      </a:pPr>
                      <a:r>
                        <a:rPr lang="en-US" sz="28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Confirm for the client</a:t>
                      </a:r>
                      <a:endParaRPr lang="en-US" sz="1100"/>
                    </a:p>
                  </a:txBody>
                  <a:tcPr marL="84455" marR="84455" marT="84455" marB="84455" anchor="t">
                    <a:lnL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</a:tr>
              <a:tr h="7705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90"/>
                        </a:lnSpc>
                        <a:defRPr/>
                      </a:pPr>
                      <a:r>
                        <a:rPr lang="en-US" sz="28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Client</a:t>
                      </a:r>
                      <a:endParaRPr lang="en-US" sz="1100"/>
                    </a:p>
                  </a:txBody>
                  <a:tcPr marL="84455" marR="84455" marT="84455" marB="8445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90"/>
                        </a:lnSpc>
                        <a:defRPr/>
                      </a:pPr>
                      <a:r>
                        <a:rPr lang="en-US" sz="28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Confirm, or dispute with a reason</a:t>
                      </a:r>
                      <a:endParaRPr lang="en-US" sz="1100"/>
                    </a:p>
                  </a:txBody>
                  <a:tcPr marL="84455" marR="84455" marT="84455" marB="8445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90"/>
                        </a:lnSpc>
                        <a:defRPr/>
                      </a:pPr>
                      <a:r>
                        <a:rPr lang="en-US" sz="28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See the team’s pages</a:t>
                      </a:r>
                      <a:endParaRPr lang="en-US" sz="1100"/>
                    </a:p>
                  </a:txBody>
                  <a:tcPr marL="84455" marR="84455" marT="84455" marB="8445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 rot="36000">
            <a:off x="1190473" y="7420928"/>
            <a:ext cx="5454910" cy="0"/>
          </a:xfrm>
          <a:prstGeom prst="line">
            <a:avLst/>
          </a:prstGeom>
          <a:ln cap="rnd" w="28575">
            <a:solidFill>
              <a:srgbClr val="3D25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219200" y="7602865"/>
            <a:ext cx="520619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HUMAN APPROVAL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9200" y="7932430"/>
            <a:ext cx="5206194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Nothing is billed without the PM’s check and the client’s yes.</a:t>
            </a:r>
          </a:p>
        </p:txBody>
      </p:sp>
      <p:sp>
        <p:nvSpPr>
          <p:cNvPr name="AutoShape 10" id="10"/>
          <p:cNvSpPr/>
          <p:nvPr/>
        </p:nvSpPr>
        <p:spPr>
          <a:xfrm rot="36000">
            <a:off x="6587938" y="7420928"/>
            <a:ext cx="5455025" cy="0"/>
          </a:xfrm>
          <a:prstGeom prst="line">
            <a:avLst/>
          </a:prstGeom>
          <a:ln cap="rnd" w="28575">
            <a:solidFill>
              <a:srgbClr val="3D25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6616665" y="7602865"/>
            <a:ext cx="520631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CHECKED ON THE SERVER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16665" y="7932430"/>
            <a:ext cx="5206317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Not just hidden buttons. A client link can’t approve its own change.</a:t>
            </a:r>
          </a:p>
        </p:txBody>
      </p:sp>
      <p:sp>
        <p:nvSpPr>
          <p:cNvPr name="AutoShape 13" id="13"/>
          <p:cNvSpPr/>
          <p:nvPr/>
        </p:nvSpPr>
        <p:spPr>
          <a:xfrm rot="38460">
            <a:off x="11985508" y="7420928"/>
            <a:ext cx="5112029" cy="0"/>
          </a:xfrm>
          <a:prstGeom prst="line">
            <a:avLst/>
          </a:prstGeom>
          <a:ln cap="rnd" w="28575">
            <a:solidFill>
              <a:srgbClr val="FF5B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2014235" y="7602865"/>
            <a:ext cx="520619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C93A0B"/>
                </a:solidFill>
                <a:latin typeface="Roboto Mono"/>
                <a:ea typeface="Roboto Mono"/>
                <a:cs typeface="Roboto Mono"/>
                <a:sym typeface="Roboto Mono"/>
              </a:rPr>
              <a:t>ACTIVITY LOG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14235" y="7932430"/>
            <a:ext cx="5206194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Who, role, what, when. Each entry is chained, so an edit shows.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9200" y="932116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Sign-in is simulated, as the brief allows. The RM500 limit is a setting.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3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21031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APPENDIX 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86890"/>
            <a:ext cx="1632508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600" spc="-74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Boundaries, privacy and tools</a:t>
            </a:r>
          </a:p>
        </p:txBody>
      </p:sp>
      <p:sp>
        <p:nvSpPr>
          <p:cNvPr name="AutoShape 6" id="6"/>
          <p:cNvSpPr/>
          <p:nvPr/>
        </p:nvSpPr>
        <p:spPr>
          <a:xfrm rot="51540">
            <a:off x="1180814" y="2832259"/>
            <a:ext cx="5080492" cy="0"/>
          </a:xfrm>
          <a:prstGeom prst="line">
            <a:avLst/>
          </a:prstGeom>
          <a:ln cap="rnd" w="38100">
            <a:solidFill>
              <a:srgbClr val="3D25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219200" y="2984659"/>
            <a:ext cx="5153835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99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INSIDE THE BRIEF</a:t>
            </a:r>
          </a:p>
        </p:txBody>
      </p:sp>
      <p:sp>
        <p:nvSpPr>
          <p:cNvPr name="AutoShape 8" id="8"/>
          <p:cNvSpPr/>
          <p:nvPr/>
        </p:nvSpPr>
        <p:spPr>
          <a:xfrm rot="6540">
            <a:off x="1214438" y="3502819"/>
            <a:ext cx="501325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219200" y="3586639"/>
            <a:ext cx="515383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No payments or filings</a:t>
            </a:r>
          </a:p>
        </p:txBody>
      </p:sp>
      <p:sp>
        <p:nvSpPr>
          <p:cNvPr name="AutoShape 10" id="10"/>
          <p:cNvSpPr/>
          <p:nvPr/>
        </p:nvSpPr>
        <p:spPr>
          <a:xfrm rot="6540">
            <a:off x="1214438" y="4129573"/>
            <a:ext cx="501325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19200" y="4213393"/>
            <a:ext cx="515383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No legal or financial advice</a:t>
            </a:r>
          </a:p>
        </p:txBody>
      </p:sp>
      <p:sp>
        <p:nvSpPr>
          <p:cNvPr name="AutoShape 12" id="12"/>
          <p:cNvSpPr/>
          <p:nvPr/>
        </p:nvSpPr>
        <p:spPr>
          <a:xfrm rot="6540">
            <a:off x="1214438" y="4756309"/>
            <a:ext cx="501325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219200" y="4840129"/>
            <a:ext cx="515383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Bill is a draft, not an invoice</a:t>
            </a:r>
          </a:p>
        </p:txBody>
      </p:sp>
      <p:sp>
        <p:nvSpPr>
          <p:cNvPr name="AutoShape 14" id="14"/>
          <p:cNvSpPr/>
          <p:nvPr/>
        </p:nvSpPr>
        <p:spPr>
          <a:xfrm rot="6540">
            <a:off x="1214438" y="5383054"/>
            <a:ext cx="501325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219200" y="5466874"/>
            <a:ext cx="515383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Synthetic data only</a:t>
            </a:r>
          </a:p>
        </p:txBody>
      </p:sp>
      <p:sp>
        <p:nvSpPr>
          <p:cNvPr name="AutoShape 16" id="16"/>
          <p:cNvSpPr/>
          <p:nvPr/>
        </p:nvSpPr>
        <p:spPr>
          <a:xfrm rot="6540">
            <a:off x="1214438" y="6009808"/>
            <a:ext cx="501325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219200" y="6093628"/>
            <a:ext cx="515383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Sign-in simulated; roles still enforced</a:t>
            </a:r>
          </a:p>
        </p:txBody>
      </p:sp>
      <p:sp>
        <p:nvSpPr>
          <p:cNvPr name="AutoShape 18" id="18"/>
          <p:cNvSpPr/>
          <p:nvPr/>
        </p:nvSpPr>
        <p:spPr>
          <a:xfrm rot="51540">
            <a:off x="6603635" y="2832259"/>
            <a:ext cx="5080606" cy="0"/>
          </a:xfrm>
          <a:prstGeom prst="line">
            <a:avLst/>
          </a:prstGeom>
          <a:ln cap="rnd" w="38100">
            <a:solidFill>
              <a:srgbClr val="C93A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6642021" y="2984659"/>
            <a:ext cx="5153958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99">
                <a:solidFill>
                  <a:srgbClr val="C93A0B"/>
                </a:solidFill>
                <a:latin typeface="Roboto Mono"/>
                <a:ea typeface="Roboto Mono"/>
                <a:cs typeface="Roboto Mono"/>
                <a:sym typeface="Roboto Mono"/>
              </a:rPr>
              <a:t>PDPA, IN REAL USE</a:t>
            </a:r>
          </a:p>
        </p:txBody>
      </p:sp>
      <p:sp>
        <p:nvSpPr>
          <p:cNvPr name="AutoShape 20" id="20"/>
          <p:cNvSpPr/>
          <p:nvPr/>
        </p:nvSpPr>
        <p:spPr>
          <a:xfrm rot="6540">
            <a:off x="6637258" y="3502819"/>
            <a:ext cx="5013369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6642021" y="3586639"/>
            <a:ext cx="515395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Tell people why the group is read</a:t>
            </a:r>
          </a:p>
        </p:txBody>
      </p:sp>
      <p:sp>
        <p:nvSpPr>
          <p:cNvPr name="AutoShape 22" id="22"/>
          <p:cNvSpPr/>
          <p:nvPr/>
        </p:nvSpPr>
        <p:spPr>
          <a:xfrm rot="6540">
            <a:off x="6637258" y="4129573"/>
            <a:ext cx="5013369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6642021" y="4213393"/>
            <a:ext cx="515395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Keep only messages tied to changes</a:t>
            </a:r>
          </a:p>
        </p:txBody>
      </p:sp>
      <p:sp>
        <p:nvSpPr>
          <p:cNvPr name="AutoShape 24" id="24"/>
          <p:cNvSpPr/>
          <p:nvPr/>
        </p:nvSpPr>
        <p:spPr>
          <a:xfrm rot="6540">
            <a:off x="6637258" y="4756309"/>
            <a:ext cx="5013369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6642021" y="4840129"/>
            <a:ext cx="515395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Limit access by role</a:t>
            </a:r>
          </a:p>
        </p:txBody>
      </p:sp>
      <p:sp>
        <p:nvSpPr>
          <p:cNvPr name="AutoShape 26" id="26"/>
          <p:cNvSpPr/>
          <p:nvPr/>
        </p:nvSpPr>
        <p:spPr>
          <a:xfrm rot="6540">
            <a:off x="6637258" y="5383054"/>
            <a:ext cx="5013369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6642021" y="5466874"/>
            <a:ext cx="515395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Set retention; honour requests</a:t>
            </a:r>
          </a:p>
        </p:txBody>
      </p:sp>
      <p:sp>
        <p:nvSpPr>
          <p:cNvPr name="AutoShape 28" id="28"/>
          <p:cNvSpPr/>
          <p:nvPr/>
        </p:nvSpPr>
        <p:spPr>
          <a:xfrm rot="6540">
            <a:off x="6637258" y="6009808"/>
            <a:ext cx="5013369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6642021" y="6093628"/>
            <a:ext cx="515395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Legal review before any pilot</a:t>
            </a:r>
          </a:p>
        </p:txBody>
      </p:sp>
      <p:sp>
        <p:nvSpPr>
          <p:cNvPr name="AutoShape 30" id="30"/>
          <p:cNvSpPr/>
          <p:nvPr/>
        </p:nvSpPr>
        <p:spPr>
          <a:xfrm rot="51540">
            <a:off x="12026579" y="2832259"/>
            <a:ext cx="5080606" cy="0"/>
          </a:xfrm>
          <a:prstGeom prst="line">
            <a:avLst/>
          </a:prstGeom>
          <a:ln cap="rnd" w="38100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12064965" y="2984659"/>
            <a:ext cx="5153958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299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TOOLS DECLARED</a:t>
            </a:r>
          </a:p>
        </p:txBody>
      </p:sp>
      <p:sp>
        <p:nvSpPr>
          <p:cNvPr name="AutoShape 32" id="32"/>
          <p:cNvSpPr/>
          <p:nvPr/>
        </p:nvSpPr>
        <p:spPr>
          <a:xfrm rot="6540">
            <a:off x="12060193" y="3502819"/>
            <a:ext cx="5013369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12064965" y="3586639"/>
            <a:ext cx="515395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Replit: build and host</a:t>
            </a:r>
          </a:p>
        </p:txBody>
      </p:sp>
      <p:sp>
        <p:nvSpPr>
          <p:cNvPr name="AutoShape 34" id="34"/>
          <p:cNvSpPr/>
          <p:nvPr/>
        </p:nvSpPr>
        <p:spPr>
          <a:xfrm rot="6540">
            <a:off x="12060193" y="4129573"/>
            <a:ext cx="5013369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12064965" y="4213393"/>
            <a:ext cx="515395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GitHub: public, Apache 2.0</a:t>
            </a:r>
          </a:p>
        </p:txBody>
      </p:sp>
      <p:sp>
        <p:nvSpPr>
          <p:cNvPr name="AutoShape 36" id="36"/>
          <p:cNvSpPr/>
          <p:nvPr/>
        </p:nvSpPr>
        <p:spPr>
          <a:xfrm rot="6540">
            <a:off x="12060193" y="4756309"/>
            <a:ext cx="5013369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12064965" y="4840129"/>
            <a:ext cx="515395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Claude, Replit Agent: AI coding help</a:t>
            </a:r>
          </a:p>
        </p:txBody>
      </p:sp>
      <p:sp>
        <p:nvSpPr>
          <p:cNvPr name="AutoShape 38" id="38"/>
          <p:cNvSpPr/>
          <p:nvPr/>
        </p:nvSpPr>
        <p:spPr>
          <a:xfrm rot="6540">
            <a:off x="12060193" y="5383054"/>
            <a:ext cx="5013369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12064965" y="5466874"/>
            <a:ext cx="515395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Llama 3.1 8B: the AI reader</a:t>
            </a:r>
          </a:p>
        </p:txBody>
      </p:sp>
      <p:sp>
        <p:nvSpPr>
          <p:cNvPr name="AutoShape 40" id="40"/>
          <p:cNvSpPr/>
          <p:nvPr/>
        </p:nvSpPr>
        <p:spPr>
          <a:xfrm rot="6540">
            <a:off x="12060193" y="6009808"/>
            <a:ext cx="5013369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12064965" y="6093628"/>
            <a:ext cx="515395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WhatsApp Cloud API: design</a:t>
            </a:r>
          </a:p>
        </p:txBody>
      </p:sp>
      <p:sp>
        <p:nvSpPr>
          <p:cNvPr name="AutoShape 42" id="42"/>
          <p:cNvSpPr/>
          <p:nvPr/>
        </p:nvSpPr>
        <p:spPr>
          <a:xfrm rot="6540">
            <a:off x="12060193" y="6636544"/>
            <a:ext cx="5013369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12064965" y="6720364"/>
            <a:ext cx="515395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RunPod: GPU that runs the AI reader (no training)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19200" y="8046730"/>
            <a:ext cx="1530477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WhatsApp, honestly:</a:t>
            </a:r>
            <a:r>
              <a:rPr lang="en-US" sz="19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 Meta’s official API is built for business-to-customer chats and needs a verified business account. An unofficial client (whatsapp-web.js) was used only for team testing, never in the product.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19200" y="932116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Boundaries from the Domain 2 brief, section 6. Not legal advice.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931640" y="9309735"/>
            <a:ext cx="21336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3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651967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WHAT 7 EVENT PROFESSIONALS SAID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77365"/>
            <a:ext cx="16325088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6000" spc="-75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86% find it useful </a:t>
            </a:r>
            <a:r>
              <a:rPr lang="en-US" sz="6000" i="true" spc="-75">
                <a:solidFill>
                  <a:srgbClr val="3D25B8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and pick a paid plan.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47888" y="2735590"/>
            <a:ext cx="2762250" cy="2762250"/>
            <a:chOff x="0" y="0"/>
            <a:chExt cx="3683000" cy="3683000"/>
          </a:xfrm>
        </p:grpSpPr>
        <p:sp>
          <p:nvSpPr>
            <p:cNvPr name="Freeform 7" id="7" descr="6 of 7 rated it 4 or 5 out of 5"/>
            <p:cNvSpPr/>
            <p:nvPr/>
          </p:nvSpPr>
          <p:spPr>
            <a:xfrm flipH="false" flipV="false" rot="0">
              <a:off x="0" y="0"/>
              <a:ext cx="3683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3683000">
                  <a:moveTo>
                    <a:pt x="0" y="0"/>
                  </a:moveTo>
                  <a:lnTo>
                    <a:pt x="3683000" y="0"/>
                  </a:lnTo>
                  <a:lnTo>
                    <a:pt x="3683000" y="3683000"/>
                  </a:lnTo>
                  <a:lnTo>
                    <a:pt x="0" y="368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368867" y="5640715"/>
            <a:ext cx="2320290" cy="45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2"/>
              </a:lnSpc>
            </a:pPr>
            <a:r>
              <a:rPr lang="en-US" sz="345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Find it useful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5953" y="6110288"/>
            <a:ext cx="5526119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5"/>
              </a:lnSpc>
            </a:pPr>
            <a:r>
              <a:rPr lang="en-US" sz="195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6 of 7 rated it 4 or 5 out of 5. Average 4.3.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300912" y="2735590"/>
            <a:ext cx="2762250" cy="2762250"/>
            <a:chOff x="0" y="0"/>
            <a:chExt cx="3683000" cy="3683000"/>
          </a:xfrm>
        </p:grpSpPr>
        <p:sp>
          <p:nvSpPr>
            <p:cNvPr name="Freeform 11" id="11" descr="6 of 7 picked a paid plan as fair"/>
            <p:cNvSpPr/>
            <p:nvPr/>
          </p:nvSpPr>
          <p:spPr>
            <a:xfrm flipH="false" flipV="false" rot="0">
              <a:off x="0" y="0"/>
              <a:ext cx="3683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3683000">
                  <a:moveTo>
                    <a:pt x="0" y="0"/>
                  </a:moveTo>
                  <a:lnTo>
                    <a:pt x="3683000" y="0"/>
                  </a:lnTo>
                  <a:lnTo>
                    <a:pt x="3683000" y="3683000"/>
                  </a:lnTo>
                  <a:lnTo>
                    <a:pt x="0" y="368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250859" y="5640715"/>
            <a:ext cx="2862358" cy="45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2"/>
              </a:lnSpc>
            </a:pPr>
            <a:r>
              <a:rPr lang="en-US" sz="345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Pick a paid plan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02931" y="6110288"/>
            <a:ext cx="4758214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5"/>
              </a:lnSpc>
            </a:pPr>
            <a:r>
              <a:rPr lang="en-US" sz="195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6 of 7 chose RM100 or RM250 a month as fair.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25250" y="2764165"/>
            <a:ext cx="570985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THEIR PAIN, IN SHORT</a:t>
            </a:r>
          </a:p>
        </p:txBody>
      </p:sp>
      <p:sp>
        <p:nvSpPr>
          <p:cNvPr name="AutoShape 15" id="15"/>
          <p:cNvSpPr/>
          <p:nvPr/>
        </p:nvSpPr>
        <p:spPr>
          <a:xfrm rot="5173140">
            <a:off x="11120447" y="3730952"/>
            <a:ext cx="866756" cy="0"/>
          </a:xfrm>
          <a:prstGeom prst="line">
            <a:avLst/>
          </a:prstGeom>
          <a:ln cap="rnd" w="28575">
            <a:solidFill>
              <a:srgbClr val="FF5B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1788140" y="3398530"/>
            <a:ext cx="54390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Clients add things, then deny agreeing.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88140" y="3762375"/>
            <a:ext cx="543908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9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OWNER, 100+ JOBS A YEAR</a:t>
            </a:r>
          </a:p>
        </p:txBody>
      </p:sp>
      <p:sp>
        <p:nvSpPr>
          <p:cNvPr name="AutoShape 18" id="18"/>
          <p:cNvSpPr/>
          <p:nvPr/>
        </p:nvSpPr>
        <p:spPr>
          <a:xfrm rot="5246160">
            <a:off x="10915012" y="4953953"/>
            <a:ext cx="1277626" cy="0"/>
          </a:xfrm>
          <a:prstGeom prst="line">
            <a:avLst/>
          </a:prstGeom>
          <a:ln cap="rnd" w="28575">
            <a:solidFill>
              <a:srgbClr val="FF5B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1788140" y="4415790"/>
            <a:ext cx="543908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They do not know extra time costs money.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88140" y="5191125"/>
            <a:ext cx="543908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9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HOTEL EVENT OPERATIONS</a:t>
            </a:r>
          </a:p>
        </p:txBody>
      </p:sp>
      <p:sp>
        <p:nvSpPr>
          <p:cNvPr name="AutoShape 21" id="21"/>
          <p:cNvSpPr/>
          <p:nvPr/>
        </p:nvSpPr>
        <p:spPr>
          <a:xfrm rot="5173140">
            <a:off x="11120447" y="6176962"/>
            <a:ext cx="866756" cy="0"/>
          </a:xfrm>
          <a:prstGeom prst="line">
            <a:avLst/>
          </a:prstGeom>
          <a:ln cap="rnd" w="28575">
            <a:solidFill>
              <a:srgbClr val="FF5B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1788140" y="5844540"/>
            <a:ext cx="5439080" cy="41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Last-minute adds land on finance.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88140" y="6208405"/>
            <a:ext cx="543908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9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FINANCE, EVENT COMPANY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19200" y="7785735"/>
            <a:ext cx="15849600" cy="977265"/>
            <a:chOff x="0" y="0"/>
            <a:chExt cx="21132800" cy="13030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132800" cy="1303020"/>
            </a:xfrm>
            <a:custGeom>
              <a:avLst/>
              <a:gdLst/>
              <a:ahLst/>
              <a:cxnLst/>
              <a:rect r="r" b="b" t="t" l="l"/>
              <a:pathLst>
                <a:path h="1303020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1303020"/>
                  </a:lnTo>
                  <a:lnTo>
                    <a:pt x="0" y="1303020"/>
                  </a:lnTo>
                  <a:close/>
                </a:path>
              </a:pathLst>
            </a:custGeom>
            <a:solidFill>
              <a:srgbClr val="14101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38100"/>
              <a:ext cx="21132800" cy="126492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795"/>
                </a:lnSpc>
              </a:pPr>
              <a:r>
                <a:rPr lang="en-US" sz="3450" i="true">
                  <a:solidFill>
                    <a:srgbClr val="FF5B2E"/>
                  </a:solidFill>
                  <a:latin typeface="Instrument Serif Italics"/>
                  <a:ea typeface="Instrument Serif Italics"/>
                  <a:cs typeface="Instrument Serif Italics"/>
                  <a:sym typeface="Instrument Serif Italics"/>
                </a:rPr>
                <a:t>One owner has already asked to meet us.</a:t>
              </a:r>
              <a:r>
                <a:rPr lang="en-US" sz="3450">
                  <a:solidFill>
                    <a:srgbClr val="F3EEE4"/>
                  </a:solidFill>
                  <a:latin typeface="Instrument Serif"/>
                  <a:ea typeface="Instrument Serif"/>
                  <a:cs typeface="Instrument Serif"/>
                  <a:sym typeface="Instrument Serif"/>
                </a:rPr>
                <a:t> That is our first pilot conversation.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19200" y="9012565"/>
            <a:ext cx="14716125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7 responses, 5 event companies, 31 Oct 2026, our network, self-reported. The question described our product. Words shortened from the free-text answers. Table: docs/survey.md.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46924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5489"/>
            <a:ext cx="21031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APPENDIX 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655693"/>
            <a:ext cx="16325088" cy="635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2"/>
              </a:lnSpc>
            </a:pPr>
            <a:r>
              <a:rPr lang="en-US" sz="5316" spc="-75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Every number: source, confidence, caveat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234440" y="2459128"/>
          <a:ext cx="15773400" cy="5524500"/>
        </p:xfrm>
        <a:graphic>
          <a:graphicData uri="http://schemas.openxmlformats.org/drawingml/2006/table">
            <a:tbl>
              <a:tblPr/>
              <a:tblGrid>
                <a:gridCol w="5036963"/>
                <a:gridCol w="3943350"/>
                <a:gridCol w="1912356"/>
                <a:gridCol w="4880731"/>
              </a:tblGrid>
              <a:tr h="48498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 b="true">
                          <a:solidFill>
                            <a:srgbClr val="F3EEE4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Number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 b="true">
                          <a:solidFill>
                            <a:srgbClr val="F3EEE4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Source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 b="true">
                          <a:solidFill>
                            <a:srgbClr val="F3EEE4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Confidence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 b="true">
                          <a:solidFill>
                            <a:srgbClr val="F3EEE4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Caveat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</a:tr>
              <a:tr h="7746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102,657 construction and renovation firms (market input)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DOSM Economic Census 2023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High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Whole sector, not only renovation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0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About 25,000 other project firms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Our assumption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Low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 public event-company count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</a:tr>
              <a:tr h="4850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20% run jobs over WhatsApp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Our assumption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Low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To measure in the pilot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48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35 messages, 10 changes, RM3,860 (11.2%) on one job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Synthetic dinner chat (data/chats)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Synthetic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One job; real leakage unknown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</a:tr>
              <a:tr h="4850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 admin hours at RM25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Our assumption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Low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Owners to confirm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0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Competitor features (grid)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Vendor pages, search results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Medium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Front pages only; not tested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</a:tr>
              <a:tr h="4850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Changes at “almost every event”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Team member’s experience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Medium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One person, one company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45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Blind chats: AI spotted 59 of 65 and got 44 fully right; rules 21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docs/results.md, Runs 2, 5, 7 and 8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Low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56"/>
                        </a:lnSpc>
                        <a:defRPr/>
                      </a:pPr>
                      <a:r>
                        <a:rPr lang="en-US" sz="1754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Synthetic chats by AI agents; 65 changes. 54 fully right after fixes, same chats (not independent)</a:t>
                      </a:r>
                      <a:endParaRPr lang="en-US" sz="1100"/>
                    </a:p>
                  </a:txBody>
                  <a:tcPr marL="52006" marR="52006" marT="52006" marB="52006" anchor="t">
                    <a:lnL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8B2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FD0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219200" y="8207578"/>
            <a:ext cx="16325088" cy="688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761">
                <a:solidFill>
                  <a:srgbClr val="4A4458"/>
                </a:solidFill>
                <a:latin typeface="Arimo"/>
                <a:ea typeface="Arimo"/>
                <a:cs typeface="Arimo"/>
                <a:sym typeface="Arimo"/>
              </a:rPr>
              <a:t>A widely repeated “52% of projects see scope creep” figure could not be traced to its source, so it is not used. Checked 21 to 24 Oct 2026.</a:t>
            </a:r>
          </a:p>
          <a:p>
            <a:pPr algn="l">
              <a:lnSpc>
                <a:spcPts val="2377"/>
              </a:lnSpc>
            </a:pPr>
            <a:r>
              <a:rPr lang="en-US" sz="1761">
                <a:solidFill>
                  <a:srgbClr val="4A4458"/>
                </a:solidFill>
                <a:latin typeface="Arimo"/>
                <a:ea typeface="Arimo"/>
                <a:cs typeface="Arimo"/>
                <a:sym typeface="Arimo"/>
              </a:rPr>
              <a:t>dosm.gov.my · rentman.io · helloendless.com · workflowmax.com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932116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SMERGERS · TEAM VBALL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931640" y="9309735"/>
            <a:ext cx="21336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3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336499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THE OWNER'S 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77365"/>
            <a:ext cx="16325088" cy="749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6"/>
              </a:lnSpc>
            </a:pPr>
            <a:r>
              <a:rPr lang="en-US" sz="6300" spc="-75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Built for the person who </a:t>
            </a:r>
            <a:r>
              <a:rPr lang="en-US" sz="6300" i="true" spc="-75">
                <a:solidFill>
                  <a:srgbClr val="3D25B8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signs off.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38250" y="2793444"/>
            <a:ext cx="8534400" cy="5676786"/>
            <a:chOff x="0" y="0"/>
            <a:chExt cx="11379200" cy="7569048"/>
          </a:xfrm>
        </p:grpSpPr>
        <p:sp>
          <p:nvSpPr>
            <p:cNvPr name="Freeform 7" id="7" descr="The project director's page: money found in chat, on the bill and waiting, then the decision queue with Approve and Reject on each row"/>
            <p:cNvSpPr/>
            <p:nvPr/>
          </p:nvSpPr>
          <p:spPr>
            <a:xfrm flipH="false" flipV="false" rot="0">
              <a:off x="0" y="0"/>
              <a:ext cx="11379200" cy="7569073"/>
            </a:xfrm>
            <a:custGeom>
              <a:avLst/>
              <a:gdLst/>
              <a:ahLst/>
              <a:cxnLst/>
              <a:rect r="r" b="b" t="t" l="l"/>
              <a:pathLst>
                <a:path h="7569073" w="11379200">
                  <a:moveTo>
                    <a:pt x="0" y="0"/>
                  </a:moveTo>
                  <a:lnTo>
                    <a:pt x="11379200" y="0"/>
                  </a:lnTo>
                  <a:lnTo>
                    <a:pt x="11379200" y="7569073"/>
                  </a:lnTo>
                  <a:lnTo>
                    <a:pt x="0" y="7569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2" r="0" b="-2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9200" y="2774394"/>
            <a:ext cx="8572500" cy="5714886"/>
            <a:chOff x="0" y="0"/>
            <a:chExt cx="11430000" cy="76198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30000" cy="7619873"/>
            </a:xfrm>
            <a:custGeom>
              <a:avLst/>
              <a:gdLst/>
              <a:ahLst/>
              <a:cxnLst/>
              <a:rect r="r" b="b" t="t" l="l"/>
              <a:pathLst>
                <a:path h="7619873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619873"/>
                  </a:lnTo>
                  <a:lnTo>
                    <a:pt x="0" y="76198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4" t="0" r="-35534" b="0"/>
              </a:stretch>
            </a:blipFill>
            <a:ln w="19050" cap="sq">
              <a:solidFill>
                <a:srgbClr val="14101F"/>
              </a:solidFill>
              <a:prstDash val="solid"/>
              <a:miter/>
            </a:ln>
          </p:spPr>
        </p:sp>
      </p:grpSp>
      <p:sp>
        <p:nvSpPr>
          <p:cNvPr name="AutoShape 10" id="10"/>
          <p:cNvSpPr/>
          <p:nvPr/>
        </p:nvSpPr>
        <p:spPr>
          <a:xfrm rot="9660">
            <a:off x="10315565" y="2779157"/>
            <a:ext cx="6762779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325100" y="3027759"/>
            <a:ext cx="6096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49000" y="2980134"/>
            <a:ext cx="6200394" cy="420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315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money at a glance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49000" y="3323987"/>
            <a:ext cx="6200394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Found in chat, on the bill, waiting to reach it.</a:t>
            </a:r>
          </a:p>
        </p:txBody>
      </p:sp>
      <p:sp>
        <p:nvSpPr>
          <p:cNvPr name="AutoShape 14" id="14"/>
          <p:cNvSpPr/>
          <p:nvPr/>
        </p:nvSpPr>
        <p:spPr>
          <a:xfrm rot="9660">
            <a:off x="10315565" y="3879294"/>
            <a:ext cx="6762779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0325100" y="4127897"/>
            <a:ext cx="6096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9000" y="4080272"/>
            <a:ext cx="6200394" cy="420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315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Decide in one row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49000" y="4424124"/>
            <a:ext cx="6200394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Evidence one click away. Approve, or reject with a reason.</a:t>
            </a:r>
          </a:p>
        </p:txBody>
      </p:sp>
      <p:sp>
        <p:nvSpPr>
          <p:cNvPr name="AutoShape 18" id="18"/>
          <p:cNvSpPr/>
          <p:nvPr/>
        </p:nvSpPr>
        <p:spPr>
          <a:xfrm rot="9660">
            <a:off x="10315565" y="5301386"/>
            <a:ext cx="6762779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325100" y="5549989"/>
            <a:ext cx="60960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49000" y="5502364"/>
            <a:ext cx="6200394" cy="420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315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Your limit, your rule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49000" y="5846207"/>
            <a:ext cx="6200394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Each business sets the amount from which the director signs off.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9200" y="932116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Screenshot of the running app, synthetic data.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14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3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504748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LIVE DEMO · AS THE OWNER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805940"/>
            <a:ext cx="16325088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7500" spc="-75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Monday morning: </a:t>
            </a:r>
            <a:r>
              <a:rPr lang="en-US" sz="7500" i="true" spc="-75">
                <a:solidFill>
                  <a:srgbClr val="FF5B2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what needs me?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19200" y="2929890"/>
            <a:ext cx="3017520" cy="4030028"/>
            <a:chOff x="0" y="0"/>
            <a:chExt cx="4023360" cy="53733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3360" cy="5373370"/>
            </a:xfrm>
            <a:custGeom>
              <a:avLst/>
              <a:gdLst/>
              <a:ahLst/>
              <a:cxnLst/>
              <a:rect r="r" b="b" t="t" l="l"/>
              <a:pathLst>
                <a:path h="537337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373370"/>
                  </a:lnTo>
                  <a:lnTo>
                    <a:pt x="0" y="5373370"/>
                  </a:lnTo>
                  <a:close/>
                </a:path>
              </a:pathLst>
            </a:custGeom>
            <a:solidFill>
              <a:srgbClr val="241C3B"/>
            </a:solidFill>
          </p:spPr>
        </p:sp>
      </p:grpSp>
      <p:sp>
        <p:nvSpPr>
          <p:cNvPr name="AutoShape 8" id="8"/>
          <p:cNvSpPr/>
          <p:nvPr/>
        </p:nvSpPr>
        <p:spPr>
          <a:xfrm rot="84660">
            <a:off x="1180633" y="2948940"/>
            <a:ext cx="3094663" cy="0"/>
          </a:xfrm>
          <a:prstGeom prst="line">
            <a:avLst/>
          </a:prstGeom>
          <a:ln cap="rnd" w="38100">
            <a:solidFill>
              <a:srgbClr val="B8A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466850" y="3358515"/>
            <a:ext cx="259842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66850" y="4234815"/>
            <a:ext cx="2598420" cy="45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45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Messages arrive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6850" y="4723447"/>
            <a:ext cx="2598420" cy="200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A real WhatsApp group on a test number is connected. New messages are read within seconds and logged.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427220" y="2929890"/>
            <a:ext cx="3017520" cy="4030028"/>
            <a:chOff x="0" y="0"/>
            <a:chExt cx="4023360" cy="53733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23360" cy="5373370"/>
            </a:xfrm>
            <a:custGeom>
              <a:avLst/>
              <a:gdLst/>
              <a:ahLst/>
              <a:cxnLst/>
              <a:rect r="r" b="b" t="t" l="l"/>
              <a:pathLst>
                <a:path h="537337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373370"/>
                  </a:lnTo>
                  <a:lnTo>
                    <a:pt x="0" y="5373370"/>
                  </a:lnTo>
                  <a:close/>
                </a:path>
              </a:pathLst>
            </a:custGeom>
            <a:solidFill>
              <a:srgbClr val="241C3B"/>
            </a:solidFill>
          </p:spPr>
        </p:sp>
      </p:grpSp>
      <p:sp>
        <p:nvSpPr>
          <p:cNvPr name="AutoShape 14" id="14"/>
          <p:cNvSpPr/>
          <p:nvPr/>
        </p:nvSpPr>
        <p:spPr>
          <a:xfrm rot="84660">
            <a:off x="4388653" y="2948940"/>
            <a:ext cx="3094663" cy="0"/>
          </a:xfrm>
          <a:prstGeom prst="line">
            <a:avLst/>
          </a:prstGeom>
          <a:ln cap="rnd" w="38100">
            <a:solidFill>
              <a:srgbClr val="B8A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4674870" y="3358515"/>
            <a:ext cx="259842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74870" y="4234815"/>
            <a:ext cx="2598420" cy="45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45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 see the money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74870" y="4723447"/>
            <a:ext cx="259842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Found in chat, on the bill, waiting. What needs my decision, with its evidence.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635240" y="2929890"/>
            <a:ext cx="3017520" cy="4030028"/>
            <a:chOff x="0" y="0"/>
            <a:chExt cx="4023360" cy="53733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23360" cy="5373370"/>
            </a:xfrm>
            <a:custGeom>
              <a:avLst/>
              <a:gdLst/>
              <a:ahLst/>
              <a:cxnLst/>
              <a:rect r="r" b="b" t="t" l="l"/>
              <a:pathLst>
                <a:path h="537337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373370"/>
                  </a:lnTo>
                  <a:lnTo>
                    <a:pt x="0" y="5373370"/>
                  </a:lnTo>
                  <a:close/>
                </a:path>
              </a:pathLst>
            </a:custGeom>
            <a:solidFill>
              <a:srgbClr val="241C3B"/>
            </a:solidFill>
          </p:spPr>
        </p:sp>
      </p:grpSp>
      <p:sp>
        <p:nvSpPr>
          <p:cNvPr name="AutoShape 20" id="20"/>
          <p:cNvSpPr/>
          <p:nvPr/>
        </p:nvSpPr>
        <p:spPr>
          <a:xfrm rot="84660">
            <a:off x="7596673" y="2948940"/>
            <a:ext cx="3094663" cy="0"/>
          </a:xfrm>
          <a:prstGeom prst="line">
            <a:avLst/>
          </a:prstGeom>
          <a:ln cap="rnd" w="38100">
            <a:solidFill>
              <a:srgbClr val="FF5B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7882890" y="3358515"/>
            <a:ext cx="259842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82890" y="4234815"/>
            <a:ext cx="2769870" cy="45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45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Approve or reject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82890" y="4723447"/>
            <a:ext cx="259842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One row, one click. A rejection needs a reason and tells the PM.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843260" y="2929890"/>
            <a:ext cx="3017520" cy="4030028"/>
            <a:chOff x="0" y="0"/>
            <a:chExt cx="4023360" cy="53733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23360" cy="5373370"/>
            </a:xfrm>
            <a:custGeom>
              <a:avLst/>
              <a:gdLst/>
              <a:ahLst/>
              <a:cxnLst/>
              <a:rect r="r" b="b" t="t" l="l"/>
              <a:pathLst>
                <a:path h="537337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373370"/>
                  </a:lnTo>
                  <a:lnTo>
                    <a:pt x="0" y="5373370"/>
                  </a:lnTo>
                  <a:close/>
                </a:path>
              </a:pathLst>
            </a:custGeom>
            <a:solidFill>
              <a:srgbClr val="241C3B"/>
            </a:solidFill>
          </p:spPr>
        </p:sp>
      </p:grpSp>
      <p:sp>
        <p:nvSpPr>
          <p:cNvPr name="AutoShape 26" id="26"/>
          <p:cNvSpPr/>
          <p:nvPr/>
        </p:nvSpPr>
        <p:spPr>
          <a:xfrm rot="84660">
            <a:off x="10804693" y="2948940"/>
            <a:ext cx="3094663" cy="0"/>
          </a:xfrm>
          <a:prstGeom prst="line">
            <a:avLst/>
          </a:prstGeom>
          <a:ln cap="rnd" w="38100">
            <a:solidFill>
              <a:srgbClr val="B8A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1090910" y="3358515"/>
            <a:ext cx="259842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90910" y="4234815"/>
            <a:ext cx="2598420" cy="45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45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Client confirms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90910" y="4723447"/>
            <a:ext cx="2598420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From a link, no login. Quote v2 goes back to the group.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4051280" y="2929890"/>
            <a:ext cx="3017520" cy="4030028"/>
            <a:chOff x="0" y="0"/>
            <a:chExt cx="4023360" cy="53733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23360" cy="5373370"/>
            </a:xfrm>
            <a:custGeom>
              <a:avLst/>
              <a:gdLst/>
              <a:ahLst/>
              <a:cxnLst/>
              <a:rect r="r" b="b" t="t" l="l"/>
              <a:pathLst>
                <a:path h="537337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373370"/>
                  </a:lnTo>
                  <a:lnTo>
                    <a:pt x="0" y="5373370"/>
                  </a:lnTo>
                  <a:close/>
                </a:path>
              </a:pathLst>
            </a:custGeom>
            <a:solidFill>
              <a:srgbClr val="241C3B"/>
            </a:solidFill>
          </p:spPr>
        </p:sp>
      </p:grpSp>
      <p:sp>
        <p:nvSpPr>
          <p:cNvPr name="AutoShape 32" id="32"/>
          <p:cNvSpPr/>
          <p:nvPr/>
        </p:nvSpPr>
        <p:spPr>
          <a:xfrm rot="84660">
            <a:off x="14012713" y="2948940"/>
            <a:ext cx="3094663" cy="0"/>
          </a:xfrm>
          <a:prstGeom prst="line">
            <a:avLst/>
          </a:prstGeom>
          <a:ln cap="rnd" w="38100">
            <a:solidFill>
              <a:srgbClr val="B8A6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14298930" y="3358515"/>
            <a:ext cx="259842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298930" y="4234815"/>
            <a:ext cx="2598420" cy="450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45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Prove it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298930" y="4723447"/>
            <a:ext cx="2598420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Activity log: who did what, when. An edit would show.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9200" y="8265805"/>
            <a:ext cx="16325088" cy="53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0"/>
              </a:lnSpc>
            </a:pPr>
            <a:r>
              <a:rPr lang="en-US" sz="390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Then </a:t>
            </a:r>
            <a:r>
              <a:rPr lang="en-US" sz="3900" i="true">
                <a:solidFill>
                  <a:srgbClr val="FF5B2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a second business</a:t>
            </a:r>
            <a:r>
              <a:rPr lang="en-US" sz="390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, with its own sign-off limit.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9200" y="932116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A59DC0"/>
                </a:solidFill>
                <a:latin typeface="Arimo"/>
                <a:ea typeface="Arimo"/>
                <a:cs typeface="Arimo"/>
                <a:sym typeface="Arimo"/>
              </a:rPr>
              <a:t>Test numbers, sample business data. Live site: sm-ergers-1.replit.app · Backup video if the network fails.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59DC0"/>
                </a:solidFill>
                <a:latin typeface="Roboto Mono"/>
                <a:ea typeface="Roboto Mono"/>
                <a:cs typeface="Roboto Mono"/>
                <a:sym typeface="Roboto Mono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810250" cy="10287000"/>
            <a:chOff x="0" y="0"/>
            <a:chExt cx="7747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47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747000">
                  <a:moveTo>
                    <a:pt x="0" y="0"/>
                  </a:moveTo>
                  <a:lnTo>
                    <a:pt x="7747000" y="0"/>
                  </a:lnTo>
                  <a:lnTo>
                    <a:pt x="7747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D25B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00175" y="1123950"/>
            <a:ext cx="3867150" cy="7010400"/>
            <a:chOff x="0" y="0"/>
            <a:chExt cx="5156200" cy="9347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56200" cy="9347200"/>
            </a:xfrm>
            <a:custGeom>
              <a:avLst/>
              <a:gdLst/>
              <a:ahLst/>
              <a:cxnLst/>
              <a:rect r="r" b="b" t="t" l="l"/>
              <a:pathLst>
                <a:path h="9347200" w="5156200">
                  <a:moveTo>
                    <a:pt x="0" y="762000"/>
                  </a:moveTo>
                  <a:cubicBezTo>
                    <a:pt x="0" y="341122"/>
                    <a:pt x="341122" y="0"/>
                    <a:pt x="762000" y="0"/>
                  </a:cubicBezTo>
                  <a:lnTo>
                    <a:pt x="4394200" y="0"/>
                  </a:lnTo>
                  <a:cubicBezTo>
                    <a:pt x="4815078" y="0"/>
                    <a:pt x="5156200" y="341122"/>
                    <a:pt x="5156200" y="762000"/>
                  </a:cubicBezTo>
                  <a:lnTo>
                    <a:pt x="5156200" y="8585200"/>
                  </a:lnTo>
                  <a:cubicBezTo>
                    <a:pt x="5156200" y="9006078"/>
                    <a:pt x="4815078" y="9347200"/>
                    <a:pt x="4394200" y="9347200"/>
                  </a:cubicBezTo>
                  <a:lnTo>
                    <a:pt x="762000" y="9347200"/>
                  </a:lnTo>
                  <a:cubicBezTo>
                    <a:pt x="341122" y="9347200"/>
                    <a:pt x="0" y="9006078"/>
                    <a:pt x="0" y="8585200"/>
                  </a:cubicBezTo>
                  <a:close/>
                </a:path>
              </a:pathLst>
            </a:custGeom>
            <a:solidFill>
              <a:srgbClr val="14101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71625" y="1295400"/>
            <a:ext cx="3524250" cy="6667500"/>
            <a:chOff x="0" y="0"/>
            <a:chExt cx="4699000" cy="8890000"/>
          </a:xfrm>
        </p:grpSpPr>
        <p:sp>
          <p:nvSpPr>
            <p:cNvPr name="Freeform 7" id="7" descr="The page a client sees after tapping the WhatsApp link: confirm the changes, with the chat messages for the dinner package and Confirm and Dispute buttons"/>
            <p:cNvSpPr/>
            <p:nvPr/>
          </p:nvSpPr>
          <p:spPr>
            <a:xfrm flipH="false" flipV="false" rot="0">
              <a:off x="0" y="0"/>
              <a:ext cx="4699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4699000">
                  <a:moveTo>
                    <a:pt x="0" y="0"/>
                  </a:moveTo>
                  <a:lnTo>
                    <a:pt x="4699000" y="0"/>
                  </a:lnTo>
                  <a:lnTo>
                    <a:pt x="4699000" y="8890000"/>
                  </a:lnTo>
                  <a:lnTo>
                    <a:pt x="0" y="889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44" r="0" b="-54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84326" y="8258175"/>
            <a:ext cx="449884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149">
                <a:solidFill>
                  <a:srgbClr val="E4DCFF"/>
                </a:solidFill>
                <a:latin typeface="Roboto Mono"/>
                <a:ea typeface="Roboto Mono"/>
                <a:cs typeface="Roboto Mono"/>
                <a:sym typeface="Roboto Mono"/>
              </a:rPr>
              <a:t>1 · Client taps the link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248400" y="1146219"/>
            <a:ext cx="152400" cy="152400"/>
            <a:chOff x="0" y="0"/>
            <a:chExt cx="203200" cy="203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553200" y="1014765"/>
            <a:ext cx="168249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SOLUTION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48400" y="1787614"/>
            <a:ext cx="11145012" cy="689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7"/>
              </a:lnSpc>
            </a:pPr>
            <a:r>
              <a:rPr lang="en-US" sz="5832" spc="-75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client confirms. Everyone stays in sync.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248400" y="2743333"/>
            <a:ext cx="10820400" cy="3796903"/>
            <a:chOff x="0" y="0"/>
            <a:chExt cx="14427200" cy="5062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427200" cy="5062601"/>
            </a:xfrm>
            <a:custGeom>
              <a:avLst/>
              <a:gdLst/>
              <a:ahLst/>
              <a:cxnLst/>
              <a:rect r="r" b="b" t="t" l="l"/>
              <a:pathLst>
                <a:path h="5062601" w="14427200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lnTo>
                    <a:pt x="14071600" y="0"/>
                  </a:lnTo>
                  <a:cubicBezTo>
                    <a:pt x="14267942" y="0"/>
                    <a:pt x="14427200" y="159258"/>
                    <a:pt x="14427200" y="355600"/>
                  </a:cubicBezTo>
                  <a:lnTo>
                    <a:pt x="14427200" y="4707001"/>
                  </a:lnTo>
                  <a:cubicBezTo>
                    <a:pt x="14427200" y="4903343"/>
                    <a:pt x="14267942" y="5062601"/>
                    <a:pt x="14071600" y="5062601"/>
                  </a:cubicBezTo>
                  <a:lnTo>
                    <a:pt x="355600" y="5062601"/>
                  </a:lnTo>
                  <a:cubicBezTo>
                    <a:pt x="159258" y="5062601"/>
                    <a:pt x="0" y="4903343"/>
                    <a:pt x="0" y="4707001"/>
                  </a:cubicBez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53200" y="2962408"/>
            <a:ext cx="10517124" cy="395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2"/>
              </a:lnSpc>
            </a:pPr>
            <a:r>
              <a:rPr lang="en-US" sz="1794" spc="74">
                <a:solidFill>
                  <a:srgbClr val="A59DC0"/>
                </a:solidFill>
                <a:latin typeface="Roboto Mono"/>
                <a:ea typeface="Roboto Mono"/>
                <a:cs typeface="Roboto Mono"/>
                <a:sym typeface="Roboto Mono"/>
              </a:rPr>
              <a:t>Annual Dinner · WhatsApp group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53200" y="3414951"/>
            <a:ext cx="10210800" cy="2858567"/>
            <a:chOff x="0" y="0"/>
            <a:chExt cx="13614400" cy="38114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614400" cy="3811397"/>
            </a:xfrm>
            <a:custGeom>
              <a:avLst/>
              <a:gdLst/>
              <a:ahLst/>
              <a:cxnLst/>
              <a:rect r="r" b="b" t="t" l="l"/>
              <a:pathLst>
                <a:path h="3811397" w="13614400">
                  <a:moveTo>
                    <a:pt x="254000" y="0"/>
                  </a:moveTo>
                  <a:lnTo>
                    <a:pt x="13360400" y="0"/>
                  </a:lnTo>
                  <a:cubicBezTo>
                    <a:pt x="13500736" y="0"/>
                    <a:pt x="13614400" y="113665"/>
                    <a:pt x="13614400" y="254000"/>
                  </a:cubicBezTo>
                  <a:lnTo>
                    <a:pt x="13614400" y="3557397"/>
                  </a:lnTo>
                  <a:cubicBezTo>
                    <a:pt x="13614400" y="3697732"/>
                    <a:pt x="13500736" y="3811397"/>
                    <a:pt x="13360400" y="3811397"/>
                  </a:cubicBezTo>
                  <a:lnTo>
                    <a:pt x="76200" y="3811397"/>
                  </a:lnTo>
                  <a:cubicBezTo>
                    <a:pt x="34163" y="3811397"/>
                    <a:pt x="0" y="3777234"/>
                    <a:pt x="0" y="3735197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solidFill>
              <a:srgbClr val="2E255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800850" y="3548301"/>
            <a:ext cx="10006965" cy="404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2"/>
              </a:lnSpc>
            </a:pPr>
            <a:r>
              <a:rPr lang="en-US" sz="1794" b="true">
                <a:solidFill>
                  <a:srgbClr val="B8A6FF"/>
                </a:solidFill>
                <a:latin typeface="Arimo Bold"/>
                <a:ea typeface="Arimo Bold"/>
                <a:cs typeface="Arimo Bold"/>
                <a:sym typeface="Arimo Bold"/>
              </a:rPr>
              <a:t>SMErgers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00850" y="3867502"/>
            <a:ext cx="10006965" cy="225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>
                <a:solidFill>
                  <a:srgbClr val="F1EEF9"/>
                </a:solidFill>
                <a:latin typeface="Arimo"/>
                <a:ea typeface="Arimo"/>
                <a:cs typeface="Arimo"/>
                <a:sym typeface="Arimo"/>
              </a:rPr>
              <a:t>Confirmed by Sinar Demo Trading Sdn Bhd:</a:t>
            </a:r>
          </a:p>
          <a:p>
            <a:pPr algn="l">
              <a:lnSpc>
                <a:spcPts val="2848"/>
              </a:lnSpc>
            </a:pPr>
            <a:r>
              <a:rPr lang="en-US" sz="2034">
                <a:solidFill>
                  <a:srgbClr val="F1EEF9"/>
                </a:solidFill>
                <a:latin typeface="Arimo"/>
                <a:ea typeface="Arimo"/>
                <a:cs typeface="Arimo"/>
                <a:sym typeface="Arimo"/>
              </a:rPr>
              <a:t>• Dinner package (+15): RM1,920</a:t>
            </a:r>
          </a:p>
          <a:p>
            <a:pPr algn="l">
              <a:lnSpc>
                <a:spcPts val="2848"/>
              </a:lnSpc>
            </a:pPr>
            <a:r>
              <a:rPr lang="en-US" sz="2034">
                <a:solidFill>
                  <a:srgbClr val="F1EEF9"/>
                </a:solidFill>
                <a:latin typeface="Arimo"/>
                <a:ea typeface="Arimo"/>
                <a:cs typeface="Arimo"/>
                <a:sym typeface="Arimo"/>
              </a:rPr>
              <a:t>• LED wall 3m x 2m, changed to 4m x 2.5m: RM1,100</a:t>
            </a:r>
          </a:p>
          <a:p>
            <a:pPr algn="l">
              <a:lnSpc>
                <a:spcPts val="2848"/>
              </a:lnSpc>
            </a:pPr>
            <a:r>
              <a:rPr lang="en-US" sz="2034">
                <a:solidFill>
                  <a:srgbClr val="F1EEF9"/>
                </a:solidFill>
                <a:latin typeface="Arimo"/>
                <a:ea typeface="Arimo"/>
                <a:cs typeface="Arimo"/>
                <a:sym typeface="Arimo"/>
              </a:rPr>
              <a:t>• Emcee overtime (+1): RM300</a:t>
            </a:r>
          </a:p>
          <a:p>
            <a:pPr algn="l">
              <a:lnSpc>
                <a:spcPts val="2848"/>
              </a:lnSpc>
            </a:pPr>
            <a:r>
              <a:rPr lang="en-US" sz="2034">
                <a:solidFill>
                  <a:srgbClr val="F1EEF9"/>
                </a:solidFill>
                <a:latin typeface="Arimo"/>
                <a:ea typeface="Arimo"/>
                <a:cs typeface="Arimo"/>
                <a:sym typeface="Arimo"/>
              </a:rPr>
              <a:t>• and 4 more</a:t>
            </a:r>
          </a:p>
          <a:p>
            <a:pPr algn="l">
              <a:lnSpc>
                <a:spcPts val="2848"/>
              </a:lnSpc>
            </a:pPr>
            <a:r>
              <a:rPr lang="en-US" sz="2034" b="true">
                <a:solidFill>
                  <a:srgbClr val="F1EEF9"/>
                </a:solidFill>
                <a:latin typeface="Arimo Bold"/>
                <a:ea typeface="Arimo Bold"/>
                <a:cs typeface="Arimo Bold"/>
                <a:sym typeface="Arimo Bold"/>
              </a:rPr>
              <a:t>Quote Q-2026-041 is now version 2, total RM38,390.</a:t>
            </a:r>
          </a:p>
        </p:txBody>
      </p:sp>
      <p:sp>
        <p:nvSpPr>
          <p:cNvPr name="AutoShape 20" id="20"/>
          <p:cNvSpPr/>
          <p:nvPr/>
        </p:nvSpPr>
        <p:spPr>
          <a:xfrm rot="27180">
            <a:off x="6229274" y="6836331"/>
            <a:ext cx="4819802" cy="0"/>
          </a:xfrm>
          <a:prstGeom prst="line">
            <a:avLst/>
          </a:prstGeom>
          <a:ln cap="rnd" w="19050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6248400" y="6931581"/>
            <a:ext cx="492499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Version 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48400" y="7384980"/>
            <a:ext cx="4924996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5"/>
              </a:lnSpc>
            </a:pPr>
            <a:r>
              <a:rPr lang="en-US" sz="63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RM34,530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258550" y="7273528"/>
            <a:ext cx="800100" cy="419100"/>
            <a:chOff x="0" y="0"/>
            <a:chExt cx="1066800" cy="558800"/>
          </a:xfrm>
        </p:grpSpPr>
        <p:sp>
          <p:nvSpPr>
            <p:cNvPr name="Freeform 24" id="24" descr="arrow-right"/>
            <p:cNvSpPr/>
            <p:nvPr/>
          </p:nvSpPr>
          <p:spPr>
            <a:xfrm flipH="false" flipV="false" rot="0">
              <a:off x="0" y="0"/>
              <a:ext cx="106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AutoShape 25" id="25"/>
          <p:cNvSpPr/>
          <p:nvPr/>
        </p:nvSpPr>
        <p:spPr>
          <a:xfrm rot="27180">
            <a:off x="12268124" y="6836331"/>
            <a:ext cx="4819802" cy="0"/>
          </a:xfrm>
          <a:prstGeom prst="line">
            <a:avLst/>
          </a:prstGeom>
          <a:ln cap="rnd" w="19050">
            <a:solidFill>
              <a:srgbClr val="FF5B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2287250" y="6931581"/>
            <a:ext cx="492499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93A0B"/>
                </a:solidFill>
                <a:latin typeface="Roboto Mono"/>
                <a:ea typeface="Roboto Mono"/>
                <a:cs typeface="Roboto Mono"/>
                <a:sym typeface="Roboto Mono"/>
              </a:rPr>
              <a:t>Version 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87250" y="7384980"/>
            <a:ext cx="4924996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5"/>
              </a:lnSpc>
            </a:pPr>
            <a:r>
              <a:rPr lang="en-US" sz="6300">
                <a:solidFill>
                  <a:srgbClr val="C93A0B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RM38,390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48400" y="8378314"/>
            <a:ext cx="11145012" cy="422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2">
                <a:solidFill>
                  <a:srgbClr val="4A4458"/>
                </a:solidFill>
                <a:latin typeface="Arimo"/>
                <a:ea typeface="Arimo"/>
                <a:cs typeface="Arimo"/>
                <a:sym typeface="Arimo"/>
              </a:rPr>
              <a:t>2 · The group is told. Demo: synthetic group. Production: WhatsApp Business API.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248400" y="9321165"/>
            <a:ext cx="981075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Screenshot and message are from the working prototype, synthetic data.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53500" y="1066800"/>
            <a:ext cx="9334500" cy="7620000"/>
            <a:chOff x="0" y="0"/>
            <a:chExt cx="12446000" cy="10160000"/>
          </a:xfrm>
        </p:grpSpPr>
        <p:sp>
          <p:nvSpPr>
            <p:cNvPr name="Freeform 3" id="3" descr="SMErgers project manager view: RM3,540 agreed on top of the RM34,530 quote with 7 changes waiting for the project manager, the chat with the dinner package messages highlighted, and the list of changes with Mark checked buttons"/>
            <p:cNvSpPr/>
            <p:nvPr/>
          </p:nvSpPr>
          <p:spPr>
            <a:xfrm flipH="false" flipV="false" rot="0">
              <a:off x="0" y="0"/>
              <a:ext cx="12446000" cy="10160000"/>
            </a:xfrm>
            <a:custGeom>
              <a:avLst/>
              <a:gdLst/>
              <a:ahLst/>
              <a:cxnLst/>
              <a:rect r="r" b="b" t="t" l="l"/>
              <a:pathLst>
                <a:path h="10160000" w="12446000">
                  <a:moveTo>
                    <a:pt x="0" y="0"/>
                  </a:moveTo>
                  <a:lnTo>
                    <a:pt x="12446000" y="0"/>
                  </a:lnTo>
                  <a:lnTo>
                    <a:pt x="12446000" y="10160000"/>
                  </a:lnTo>
                  <a:lnTo>
                    <a:pt x="0" y="1016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418" r="0" b="-1441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9200" y="1150630"/>
            <a:ext cx="152400" cy="152400"/>
            <a:chOff x="0" y="0"/>
            <a:chExt cx="203200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24000" y="1019175"/>
            <a:ext cx="168249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1853565"/>
            <a:ext cx="6867525" cy="177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sz="7200" spc="-75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project manager’s view</a:t>
            </a:r>
          </a:p>
        </p:txBody>
      </p:sp>
      <p:sp>
        <p:nvSpPr>
          <p:cNvPr name="AutoShape 8" id="8"/>
          <p:cNvSpPr/>
          <p:nvPr/>
        </p:nvSpPr>
        <p:spPr>
          <a:xfrm rot="9780">
            <a:off x="1209665" y="4847272"/>
            <a:ext cx="6686579" cy="0"/>
          </a:xfrm>
          <a:prstGeom prst="line">
            <a:avLst/>
          </a:prstGeom>
          <a:ln cap="rnd" w="9525">
            <a:solidFill>
              <a:srgbClr val="3A2F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219200" y="5295900"/>
            <a:ext cx="74295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720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52650" y="5067300"/>
            <a:ext cx="4490380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3EEE4"/>
                </a:solidFill>
                <a:latin typeface="Arimo Bold"/>
                <a:ea typeface="Arimo Bold"/>
                <a:cs typeface="Arimo Bold"/>
                <a:sym typeface="Arimo Bold"/>
              </a:rPr>
              <a:t>Know what waits for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52650" y="5545465"/>
            <a:ext cx="5231511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CFC8E4"/>
                </a:solidFill>
                <a:latin typeface="Arimo"/>
                <a:ea typeface="Arimo"/>
                <a:cs typeface="Arimo"/>
                <a:sym typeface="Arimo"/>
              </a:rPr>
              <a:t>RM3,540 agreed, 7 changes to check</a:t>
            </a:r>
          </a:p>
        </p:txBody>
      </p:sp>
      <p:sp>
        <p:nvSpPr>
          <p:cNvPr name="AutoShape 12" id="12"/>
          <p:cNvSpPr/>
          <p:nvPr/>
        </p:nvSpPr>
        <p:spPr>
          <a:xfrm rot="9780">
            <a:off x="1209665" y="6268403"/>
            <a:ext cx="6686579" cy="0"/>
          </a:xfrm>
          <a:prstGeom prst="line">
            <a:avLst/>
          </a:prstGeom>
          <a:ln cap="rnd" w="9525">
            <a:solidFill>
              <a:srgbClr val="3A2F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219200" y="6717040"/>
            <a:ext cx="74295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720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52650" y="6488440"/>
            <a:ext cx="4415409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3EEE4"/>
                </a:solidFill>
                <a:latin typeface="Arimo Bold"/>
                <a:ea typeface="Arimo Bold"/>
                <a:cs typeface="Arimo Bold"/>
                <a:sym typeface="Arimo Bold"/>
              </a:rPr>
              <a:t>Every change has proof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52650" y="6966585"/>
            <a:ext cx="4415409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CFC8E4"/>
                </a:solidFill>
                <a:latin typeface="Arimo"/>
                <a:ea typeface="Arimo"/>
                <a:cs typeface="Arimo"/>
                <a:sym typeface="Arimo"/>
              </a:rPr>
              <a:t>The client’s own words light up</a:t>
            </a:r>
          </a:p>
        </p:txBody>
      </p:sp>
      <p:sp>
        <p:nvSpPr>
          <p:cNvPr name="AutoShape 16" id="16"/>
          <p:cNvSpPr/>
          <p:nvPr/>
        </p:nvSpPr>
        <p:spPr>
          <a:xfrm rot="9780">
            <a:off x="1209665" y="7689542"/>
            <a:ext cx="6686579" cy="0"/>
          </a:xfrm>
          <a:prstGeom prst="line">
            <a:avLst/>
          </a:prstGeom>
          <a:ln cap="rnd" w="9525">
            <a:solidFill>
              <a:srgbClr val="3A2F5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219200" y="8138160"/>
            <a:ext cx="74295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720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52650" y="7909560"/>
            <a:ext cx="4002415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3EEE4"/>
                </a:solidFill>
                <a:latin typeface="Arimo Bold"/>
                <a:ea typeface="Arimo Bold"/>
                <a:cs typeface="Arimo Bold"/>
                <a:sym typeface="Arimo Bold"/>
              </a:rPr>
              <a:t>Check six in one click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52650" y="8387715"/>
            <a:ext cx="4663011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CFC8E4"/>
                </a:solidFill>
                <a:latin typeface="Arimo"/>
                <a:ea typeface="Arimo"/>
                <a:cs typeface="Arimo"/>
                <a:sym typeface="Arimo"/>
              </a:rPr>
              <a:t>Unpriced items wait for a person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9200" y="9321165"/>
            <a:ext cx="68675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A59DC0"/>
                </a:solidFill>
                <a:latin typeface="Arimo"/>
                <a:ea typeface="Arimo"/>
                <a:cs typeface="Arimo"/>
                <a:sym typeface="Arimo"/>
              </a:rPr>
              <a:t>Screenshot of the working prototype, synthetic data.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59DC0"/>
                </a:solidFill>
                <a:latin typeface="Roboto Mono"/>
                <a:ea typeface="Roboto Mono"/>
                <a:cs typeface="Roboto Mono"/>
                <a:sym typeface="Roboto Mono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3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378561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TECHNICAL APPROACH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824990"/>
            <a:ext cx="1632508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600" spc="-74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It learns from every job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19200" y="2889409"/>
            <a:ext cx="8382000" cy="3333750"/>
            <a:chOff x="0" y="0"/>
            <a:chExt cx="11176000" cy="444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176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11176000">
                  <a:moveTo>
                    <a:pt x="0" y="0"/>
                  </a:moveTo>
                  <a:lnTo>
                    <a:pt x="11176000" y="0"/>
                  </a:lnTo>
                  <a:lnTo>
                    <a:pt x="11176000" y="4445000"/>
                  </a:lnTo>
                  <a:lnTo>
                    <a:pt x="0" y="4445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8250" y="2908459"/>
            <a:ext cx="8343900" cy="3295650"/>
            <a:chOff x="0" y="0"/>
            <a:chExt cx="11125200" cy="4394200"/>
          </a:xfrm>
        </p:grpSpPr>
        <p:sp>
          <p:nvSpPr>
            <p:cNvPr name="Freeform 9" id="9" descr="SMErgers suggestions: in 4 of 4 past dinners the event ran past the planned end, in 3 of 4 the guest count went up, each with one step to put in the quote"/>
            <p:cNvSpPr/>
            <p:nvPr/>
          </p:nvSpPr>
          <p:spPr>
            <a:xfrm flipH="false" flipV="false" rot="0">
              <a:off x="0" y="0"/>
              <a:ext cx="11125200" cy="4394200"/>
            </a:xfrm>
            <a:custGeom>
              <a:avLst/>
              <a:gdLst/>
              <a:ahLst/>
              <a:cxnLst/>
              <a:rect r="r" b="b" t="t" l="l"/>
              <a:pathLst>
                <a:path h="43942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4394200"/>
                  </a:lnTo>
                  <a:lnTo>
                    <a:pt x="0" y="439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417" t="0" r="41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9200" y="2889409"/>
            <a:ext cx="8382000" cy="3333750"/>
            <a:chOff x="0" y="0"/>
            <a:chExt cx="11176000" cy="444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76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11176000">
                  <a:moveTo>
                    <a:pt x="0" y="0"/>
                  </a:moveTo>
                  <a:lnTo>
                    <a:pt x="11176000" y="0"/>
                  </a:lnTo>
                  <a:lnTo>
                    <a:pt x="11176000" y="4445000"/>
                  </a:lnTo>
                  <a:lnTo>
                    <a:pt x="0" y="444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29" t="0" r="-1029" b="0"/>
              </a:stretch>
            </a:blipFill>
            <a:ln w="19050" cap="sq">
              <a:solidFill>
                <a:srgbClr val="14101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210800" y="2873702"/>
            <a:ext cx="706374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C93A0B"/>
                </a:solidFill>
                <a:latin typeface="Roboto Mono"/>
                <a:ea typeface="Roboto Mono"/>
                <a:cs typeface="Roboto Mono"/>
                <a:sym typeface="Roboto Mono"/>
              </a:rPr>
              <a:t>SYNTHETIC DEMO HISTORY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10800" y="3689042"/>
            <a:ext cx="7063740" cy="1709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7"/>
              </a:lnSpc>
            </a:pPr>
            <a:r>
              <a:rPr lang="en-US" sz="17250" spc="-299">
                <a:solidFill>
                  <a:srgbClr val="C93A0B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4 of 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10800" y="5360680"/>
            <a:ext cx="706374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past dinners in our demo ran past the planned end. Put overtime in the quote.</a:t>
            </a:r>
          </a:p>
        </p:txBody>
      </p:sp>
      <p:sp>
        <p:nvSpPr>
          <p:cNvPr name="AutoShape 15" id="15"/>
          <p:cNvSpPr/>
          <p:nvPr/>
        </p:nvSpPr>
        <p:spPr>
          <a:xfrm rot="24960">
            <a:off x="1190520" y="6998027"/>
            <a:ext cx="7867860" cy="0"/>
          </a:xfrm>
          <a:prstGeom prst="line">
            <a:avLst/>
          </a:prstGeom>
          <a:ln cap="rnd" w="28575">
            <a:solidFill>
              <a:srgbClr val="3D25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219200" y="7179955"/>
            <a:ext cx="757389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NOW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9200" y="7585710"/>
            <a:ext cx="7573899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sz="345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Plain counts from past jobs. Fewer last-minute decisions.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029700" y="6983740"/>
            <a:ext cx="8039100" cy="1779270"/>
            <a:chOff x="0" y="0"/>
            <a:chExt cx="10718800" cy="2372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18800" cy="2372360"/>
            </a:xfrm>
            <a:custGeom>
              <a:avLst/>
              <a:gdLst/>
              <a:ahLst/>
              <a:cxnLst/>
              <a:rect r="r" b="b" t="t" l="l"/>
              <a:pathLst>
                <a:path h="2372360" w="10718800">
                  <a:moveTo>
                    <a:pt x="0" y="0"/>
                  </a:moveTo>
                  <a:lnTo>
                    <a:pt x="10718800" y="0"/>
                  </a:lnTo>
                  <a:lnTo>
                    <a:pt x="10718800" y="2372360"/>
                  </a:lnTo>
                  <a:lnTo>
                    <a:pt x="0" y="2372360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372600" y="7183765"/>
            <a:ext cx="757389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72600" y="7589530"/>
            <a:ext cx="7573899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sz="345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Every approval is a labelled example. After a pilot, it trains a model.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9200" y="932116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Built on 10 synthetic past jobs of one demo company. A model is trained on real approvals after a pilot.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3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567842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SINCE THE PRELIMINARY ROUND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96415"/>
            <a:ext cx="16325088" cy="808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6900" spc="-75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 we built </a:t>
            </a:r>
            <a:r>
              <a:rPr lang="en-US" sz="6900" i="true" spc="-75">
                <a:solidFill>
                  <a:srgbClr val="3D25B8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and why.</a:t>
            </a:r>
          </a:p>
        </p:txBody>
      </p:sp>
      <p:sp>
        <p:nvSpPr>
          <p:cNvPr name="AutoShape 6" id="6"/>
          <p:cNvSpPr/>
          <p:nvPr/>
        </p:nvSpPr>
        <p:spPr>
          <a:xfrm rot="2040">
            <a:off x="1214438" y="3555082"/>
            <a:ext cx="1585912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219200" y="3023587"/>
            <a:ext cx="549402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A demo you step through by hand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19900" y="2966437"/>
            <a:ext cx="2477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→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58164" y="2991202"/>
            <a:ext cx="10104949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A real WhatsApp group (test number) that triggers by itself</a:t>
            </a:r>
          </a:p>
        </p:txBody>
      </p:sp>
      <p:sp>
        <p:nvSpPr>
          <p:cNvPr name="AutoShape 10" id="10"/>
          <p:cNvSpPr/>
          <p:nvPr/>
        </p:nvSpPr>
        <p:spPr>
          <a:xfrm rot="2040">
            <a:off x="1214438" y="4267562"/>
            <a:ext cx="1585912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19200" y="3736067"/>
            <a:ext cx="549402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Reader only; a miss was a dead 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19900" y="3678917"/>
            <a:ext cx="2477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→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58164" y="3703682"/>
            <a:ext cx="10104949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A person can add what it missed; the director signs it off</a:t>
            </a:r>
          </a:p>
        </p:txBody>
      </p:sp>
      <p:sp>
        <p:nvSpPr>
          <p:cNvPr name="AutoShape 14" id="14"/>
          <p:cNvSpPr/>
          <p:nvPr/>
        </p:nvSpPr>
        <p:spPr>
          <a:xfrm rot="2040">
            <a:off x="1214438" y="4980022"/>
            <a:ext cx="1585912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219200" y="4448527"/>
            <a:ext cx="549402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Reject was a click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19900" y="4391377"/>
            <a:ext cx="2477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→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58164" y="4416161"/>
            <a:ext cx="10104949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Reject needs a reason, is logged, and tells the other side</a:t>
            </a:r>
          </a:p>
        </p:txBody>
      </p:sp>
      <p:sp>
        <p:nvSpPr>
          <p:cNvPr name="AutoShape 18" id="18"/>
          <p:cNvSpPr/>
          <p:nvPr/>
        </p:nvSpPr>
        <p:spPr>
          <a:xfrm rot="2040">
            <a:off x="1214438" y="5692502"/>
            <a:ext cx="1585912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219200" y="5161007"/>
            <a:ext cx="549402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One approval limit for everyone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19900" y="5103857"/>
            <a:ext cx="2477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→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58164" y="5128612"/>
            <a:ext cx="10104949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Each business sets its own</a:t>
            </a:r>
          </a:p>
        </p:txBody>
      </p:sp>
      <p:sp>
        <p:nvSpPr>
          <p:cNvPr name="AutoShape 22" id="22"/>
          <p:cNvSpPr/>
          <p:nvPr/>
        </p:nvSpPr>
        <p:spPr>
          <a:xfrm rot="2040">
            <a:off x="1214438" y="6404981"/>
            <a:ext cx="1585912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219200" y="5873486"/>
            <a:ext cx="549402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Benefit estimated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19900" y="5816336"/>
            <a:ext cx="2477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→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58164" y="5841092"/>
            <a:ext cx="10104949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Benefit counted from the engine and the log</a:t>
            </a:r>
          </a:p>
        </p:txBody>
      </p:sp>
      <p:sp>
        <p:nvSpPr>
          <p:cNvPr name="AutoShape 26" id="26"/>
          <p:cNvSpPr/>
          <p:nvPr/>
        </p:nvSpPr>
        <p:spPr>
          <a:xfrm rot="2040">
            <a:off x="1214438" y="7117432"/>
            <a:ext cx="1585912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219200" y="6585937"/>
            <a:ext cx="549402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One blind test, rules looked fine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19900" y="6528787"/>
            <a:ext cx="24776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→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58164" y="6553552"/>
            <a:ext cx="10104949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A second one: the rules fall to 22%, the AI reader holds at 75%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9200" y="8004810"/>
            <a:ext cx="15304770" cy="79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 b="true">
                <a:solidFill>
                  <a:srgbClr val="3D3650"/>
                </a:solidFill>
                <a:latin typeface="Arimo Bold"/>
                <a:ea typeface="Arimo Bold"/>
                <a:cs typeface="Arimo Bold"/>
                <a:sym typeface="Arimo Bold"/>
              </a:rPr>
              <a:t>Next:</a:t>
            </a:r>
            <a:r>
              <a:rPr lang="en-US" sz="210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 a timed bill test with real people, a pilot with 3 to 5 event companies on the official WhatsApp API, and Orbyte approvals and eSign.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9200" y="932116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352 automated tests pass. Every run is logged in docs/results.md.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44791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3355"/>
            <a:ext cx="378561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WHAT YOU CAN CHECK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65697"/>
            <a:ext cx="16325088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2"/>
              </a:lnSpc>
            </a:pPr>
            <a:r>
              <a:rPr lang="en-US" sz="6414" spc="-75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Ask us to prove it. </a:t>
            </a:r>
            <a:r>
              <a:rPr lang="en-US" sz="6414" i="true" spc="-75">
                <a:solidFill>
                  <a:srgbClr val="3D25B8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It is all live.</a:t>
            </a:r>
          </a:p>
        </p:txBody>
      </p:sp>
      <p:sp>
        <p:nvSpPr>
          <p:cNvPr name="AutoShape 6" id="6"/>
          <p:cNvSpPr/>
          <p:nvPr/>
        </p:nvSpPr>
        <p:spPr>
          <a:xfrm rot="2040">
            <a:off x="1214438" y="3867988"/>
            <a:ext cx="1585912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219200" y="2970609"/>
            <a:ext cx="6867525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3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Does it trigger by itself?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67700" y="3020149"/>
            <a:ext cx="9065133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Connect a WhatsApp group: new messages are read within seconds and every arrival is logged.</a:t>
            </a:r>
          </a:p>
        </p:txBody>
      </p:sp>
      <p:sp>
        <p:nvSpPr>
          <p:cNvPr name="AutoShape 9" id="9"/>
          <p:cNvSpPr/>
          <p:nvPr/>
        </p:nvSpPr>
        <p:spPr>
          <a:xfrm rot="2040">
            <a:off x="1214438" y="4654277"/>
            <a:ext cx="1585912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219200" y="4077538"/>
            <a:ext cx="6867525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3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Can I approve or reject?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67700" y="4127059"/>
            <a:ext cx="9065133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Yes. Rejecting needs a reason, stays off the bill and tells the other side.</a:t>
            </a:r>
          </a:p>
        </p:txBody>
      </p:sp>
      <p:sp>
        <p:nvSpPr>
          <p:cNvPr name="AutoShape 12" id="12"/>
          <p:cNvSpPr/>
          <p:nvPr/>
        </p:nvSpPr>
        <p:spPr>
          <a:xfrm rot="2040">
            <a:off x="1214438" y="5761206"/>
            <a:ext cx="1585912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219200" y="4863836"/>
            <a:ext cx="6867525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3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Who can see and act?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67700" y="4913357"/>
            <a:ext cx="9065133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Switch role: PM, director, client, finance. The server refuses the wrong role.</a:t>
            </a:r>
          </a:p>
        </p:txBody>
      </p:sp>
      <p:sp>
        <p:nvSpPr>
          <p:cNvPr name="AutoShape 15" id="15"/>
          <p:cNvSpPr/>
          <p:nvPr/>
        </p:nvSpPr>
        <p:spPr>
          <a:xfrm rot="2040">
            <a:off x="1214438" y="6547485"/>
            <a:ext cx="1585912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219200" y="5970746"/>
            <a:ext cx="6867525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3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Is there a real record?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67700" y="6020286"/>
            <a:ext cx="9065133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Activity log, each entry chained to the one before. An edit shows.</a:t>
            </a:r>
          </a:p>
        </p:txBody>
      </p:sp>
      <p:sp>
        <p:nvSpPr>
          <p:cNvPr name="AutoShape 18" id="18"/>
          <p:cNvSpPr/>
          <p:nvPr/>
        </p:nvSpPr>
        <p:spPr>
          <a:xfrm rot="2040">
            <a:off x="1214438" y="7654290"/>
            <a:ext cx="15859125" cy="0"/>
          </a:xfrm>
          <a:prstGeom prst="line">
            <a:avLst/>
          </a:prstGeom>
          <a:ln cap="rnd" w="9525">
            <a:solidFill>
              <a:srgbClr val="C9C1B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219200" y="6757035"/>
            <a:ext cx="6867525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3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Is there a second business?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67700" y="6806565"/>
            <a:ext cx="9065133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Café renovation: its own quote file and its own approval limit. Add a third in one form.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9200" y="7863840"/>
            <a:ext cx="6867525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3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Does it work on chats you wrote?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67700" y="7913380"/>
            <a:ext cx="9065133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Send a message in the group yourself, or import a chat. Results are in the repository.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9200" y="932116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Everything on this slide can be opened in the live app.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3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168249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BUSINESS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86890"/>
            <a:ext cx="16325088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600" spc="-74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Market size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09700" y="2930614"/>
            <a:ext cx="5715000" cy="5715000"/>
            <a:chOff x="0" y="0"/>
            <a:chExt cx="7620000" cy="7620000"/>
          </a:xfrm>
        </p:grpSpPr>
        <p:sp>
          <p:nvSpPr>
            <p:cNvPr name="Freeform 7" id="7" descr="ellipse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314575" y="4835614"/>
            <a:ext cx="3905250" cy="3810000"/>
            <a:chOff x="0" y="0"/>
            <a:chExt cx="5207000" cy="5080000"/>
          </a:xfrm>
        </p:grpSpPr>
        <p:sp>
          <p:nvSpPr>
            <p:cNvPr name="Freeform 9" id="9" descr="ellipse"/>
            <p:cNvSpPr/>
            <p:nvPr/>
          </p:nvSpPr>
          <p:spPr>
            <a:xfrm flipH="false" flipV="false" rot="0">
              <a:off x="0" y="0"/>
              <a:ext cx="5207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5207000">
                  <a:moveTo>
                    <a:pt x="0" y="0"/>
                  </a:moveTo>
                  <a:lnTo>
                    <a:pt x="5207000" y="0"/>
                  </a:lnTo>
                  <a:lnTo>
                    <a:pt x="5207000" y="5080000"/>
                  </a:lnTo>
                  <a:lnTo>
                    <a:pt x="0" y="508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267075" y="6835864"/>
            <a:ext cx="2000250" cy="1809750"/>
            <a:chOff x="0" y="0"/>
            <a:chExt cx="2667000" cy="2413000"/>
          </a:xfrm>
        </p:grpSpPr>
        <p:sp>
          <p:nvSpPr>
            <p:cNvPr name="Freeform 11" id="11" descr="ellipse"/>
            <p:cNvSpPr/>
            <p:nvPr/>
          </p:nvSpPr>
          <p:spPr>
            <a:xfrm flipH="false" flipV="false" rot="0">
              <a:off x="0" y="0"/>
              <a:ext cx="2667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2413000"/>
                  </a:lnTo>
                  <a:lnTo>
                    <a:pt x="0" y="241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23975" y="3273514"/>
            <a:ext cx="588645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spc="299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TAM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3975" y="3797389"/>
            <a:ext cx="588645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6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RM153m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55996" y="5140414"/>
            <a:ext cx="4022408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spc="299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SAM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55996" y="5664289"/>
            <a:ext cx="402240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60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RM31m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28975" y="7073989"/>
            <a:ext cx="20764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225">
                <a:solidFill>
                  <a:srgbClr val="14101F"/>
                </a:solidFill>
                <a:latin typeface="Roboto Mono"/>
                <a:ea typeface="Roboto Mono"/>
                <a:cs typeface="Roboto Mono"/>
                <a:sym typeface="Roboto Mono"/>
              </a:rPr>
              <a:t>SOM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28975" y="7521664"/>
            <a:ext cx="20764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405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RM0.6m</a:t>
            </a:r>
          </a:p>
        </p:txBody>
      </p:sp>
      <p:sp>
        <p:nvSpPr>
          <p:cNvPr name="AutoShape 18" id="18"/>
          <p:cNvSpPr/>
          <p:nvPr/>
        </p:nvSpPr>
        <p:spPr>
          <a:xfrm rot="14400">
            <a:off x="7981912" y="3217307"/>
            <a:ext cx="9105976" cy="0"/>
          </a:xfrm>
          <a:prstGeom prst="line">
            <a:avLst/>
          </a:prstGeom>
          <a:ln cap="rnd" w="19050">
            <a:solidFill>
              <a:srgbClr val="3D25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8001000" y="3331607"/>
            <a:ext cx="933983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TAM · PROJECT-BASED SMES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01000" y="3823097"/>
            <a:ext cx="9339834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9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≈128,000 firms × RM1,200 a year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01000" y="4295537"/>
            <a:ext cx="9339834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4A4458"/>
                </a:solidFill>
                <a:latin typeface="Arimo"/>
                <a:ea typeface="Arimo"/>
                <a:cs typeface="Arimo"/>
                <a:sym typeface="Arimo"/>
              </a:rPr>
              <a:t>Renovation and contracting 102,657 firms (DOSM 2023) + about 25,000 events, agencies, print (assumption)</a:t>
            </a:r>
          </a:p>
        </p:txBody>
      </p:sp>
      <p:sp>
        <p:nvSpPr>
          <p:cNvPr name="AutoShape 22" id="22"/>
          <p:cNvSpPr/>
          <p:nvPr/>
        </p:nvSpPr>
        <p:spPr>
          <a:xfrm rot="14400">
            <a:off x="7981912" y="5234711"/>
            <a:ext cx="9105976" cy="0"/>
          </a:xfrm>
          <a:prstGeom prst="line">
            <a:avLst/>
          </a:prstGeom>
          <a:ln cap="rnd" w="19050">
            <a:solidFill>
              <a:srgbClr val="3D25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8001000" y="5349011"/>
            <a:ext cx="933983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SAM · RUN JOBS OVER WHATSAPP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01000" y="5840501"/>
            <a:ext cx="9339834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9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≈25,500 firms (20% of TAM, assumption)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01000" y="6312932"/>
            <a:ext cx="9339834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4A4458"/>
                </a:solidFill>
                <a:latin typeface="Arimo"/>
                <a:ea typeface="Arimo"/>
                <a:cs typeface="Arimo"/>
                <a:sym typeface="Arimo"/>
              </a:rPr>
              <a:t>3 or more staff, jobs billed by project</a:t>
            </a:r>
          </a:p>
        </p:txBody>
      </p:sp>
      <p:sp>
        <p:nvSpPr>
          <p:cNvPr name="AutoShape 26" id="26"/>
          <p:cNvSpPr/>
          <p:nvPr/>
        </p:nvSpPr>
        <p:spPr>
          <a:xfrm rot="14400">
            <a:off x="7981912" y="6930161"/>
            <a:ext cx="9105976" cy="0"/>
          </a:xfrm>
          <a:prstGeom prst="line">
            <a:avLst/>
          </a:prstGeom>
          <a:ln cap="rnd" w="19050">
            <a:solidFill>
              <a:srgbClr val="C93A0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8001000" y="7044461"/>
            <a:ext cx="933983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C93A0B"/>
                </a:solidFill>
                <a:latin typeface="Roboto Mono"/>
                <a:ea typeface="Roboto Mono"/>
                <a:cs typeface="Roboto Mono"/>
                <a:sym typeface="Roboto Mono"/>
              </a:rPr>
              <a:t>SOM · WITHIN THREE YEARS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01000" y="7535951"/>
            <a:ext cx="9339834" cy="49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9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≈510 firms (2% of SAM, assumption)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01000" y="8008382"/>
            <a:ext cx="9339834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4A4458"/>
                </a:solidFill>
                <a:latin typeface="Arimo"/>
                <a:ea typeface="Arimo"/>
                <a:cs typeface="Arimo"/>
                <a:sym typeface="Arimo"/>
              </a:rPr>
              <a:t>Event companies first, through Orbyte and associations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9200" y="9321165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Sources and every assumption: appendix A. No event-company count exists in public data.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794480" y="9309735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40266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08945"/>
            <a:ext cx="168249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BUSINESS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18662"/>
            <a:ext cx="16325088" cy="73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2"/>
              </a:lnSpc>
            </a:pPr>
            <a:r>
              <a:rPr lang="en-US" sz="6208" spc="-74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Does it pay for itself?</a:t>
            </a:r>
          </a:p>
        </p:txBody>
      </p:sp>
      <p:sp>
        <p:nvSpPr>
          <p:cNvPr name="AutoShape 6" id="6"/>
          <p:cNvSpPr/>
          <p:nvPr/>
        </p:nvSpPr>
        <p:spPr>
          <a:xfrm rot="39240">
            <a:off x="1200045" y="2671058"/>
            <a:ext cx="3335874" cy="0"/>
          </a:xfrm>
          <a:prstGeom prst="line">
            <a:avLst/>
          </a:prstGeom>
          <a:ln cap="rnd" w="19050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219200" y="2785358"/>
            <a:ext cx="339648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9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1 · EXTRAS A YEAR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3343513"/>
            <a:ext cx="339648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900" spc="-75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RM38,600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9200" y="4105532"/>
            <a:ext cx="3396482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4A4458"/>
                </a:solidFill>
                <a:latin typeface="Arimo"/>
                <a:ea typeface="Arimo"/>
                <a:cs typeface="Arimo"/>
                <a:sym typeface="Arimo"/>
              </a:rPr>
              <a:t>RM3,860 on our dinner, times 10 dinners a year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88205" y="3099683"/>
            <a:ext cx="6858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FF5B2E"/>
                </a:solidFill>
                <a:latin typeface="Arimo Bold"/>
                <a:ea typeface="Arimo Bold"/>
                <a:cs typeface="Arimo Bold"/>
                <a:sym typeface="Arimo Bold"/>
              </a:rPr>
              <a:t>→</a:t>
            </a:r>
          </a:p>
        </p:txBody>
      </p:sp>
      <p:sp>
        <p:nvSpPr>
          <p:cNvPr name="AutoShape 11" id="11"/>
          <p:cNvSpPr/>
          <p:nvPr/>
        </p:nvSpPr>
        <p:spPr>
          <a:xfrm rot="39240">
            <a:off x="5412000" y="2671058"/>
            <a:ext cx="3335874" cy="0"/>
          </a:xfrm>
          <a:prstGeom prst="line">
            <a:avLst/>
          </a:prstGeom>
          <a:ln cap="rnd" w="19050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5431155" y="2785358"/>
            <a:ext cx="339648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9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2 · WON BACK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31155" y="3343513"/>
            <a:ext cx="339648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900" spc="-75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RM9,650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31155" y="4105532"/>
            <a:ext cx="3396482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4A4458"/>
                </a:solidFill>
                <a:latin typeface="Arimo"/>
                <a:ea typeface="Arimo"/>
                <a:cs typeface="Arimo"/>
                <a:sym typeface="Arimo"/>
              </a:rPr>
              <a:t>We win back one quarter of those extras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00160" y="3099683"/>
            <a:ext cx="39624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FF5B2E"/>
                </a:solidFill>
                <a:latin typeface="Arimo Bold"/>
                <a:ea typeface="Arimo Bold"/>
                <a:cs typeface="Arimo Bold"/>
                <a:sym typeface="Arimo Bold"/>
              </a:rPr>
              <a:t>−</a:t>
            </a:r>
          </a:p>
        </p:txBody>
      </p:sp>
      <p:sp>
        <p:nvSpPr>
          <p:cNvPr name="AutoShape 16" id="16"/>
          <p:cNvSpPr/>
          <p:nvPr/>
        </p:nvSpPr>
        <p:spPr>
          <a:xfrm rot="39240">
            <a:off x="9372495" y="2671058"/>
            <a:ext cx="3335874" cy="0"/>
          </a:xfrm>
          <a:prstGeom prst="line">
            <a:avLst/>
          </a:prstGeom>
          <a:ln cap="rnd" w="19050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9391650" y="2785358"/>
            <a:ext cx="339648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9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3 · SUBSCRIPTION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91650" y="3343513"/>
            <a:ext cx="339648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900" spc="-75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RM1,200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91650" y="4105532"/>
            <a:ext cx="3396482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4A4458"/>
                </a:solidFill>
                <a:latin typeface="Arimo"/>
                <a:ea typeface="Arimo"/>
                <a:cs typeface="Arimo"/>
                <a:sym typeface="Arimo"/>
              </a:rPr>
              <a:t>Confirm tier: RM100 a month, for 12 months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60655" y="3099683"/>
            <a:ext cx="39624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FF5B2E"/>
                </a:solidFill>
                <a:latin typeface="Arimo Bold"/>
                <a:ea typeface="Arimo Bold"/>
                <a:cs typeface="Arimo Bold"/>
                <a:sym typeface="Arimo Bold"/>
              </a:rPr>
              <a:t>=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352145" y="2661533"/>
            <a:ext cx="3716655" cy="1956435"/>
            <a:chOff x="0" y="0"/>
            <a:chExt cx="4955540" cy="26085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55540" cy="2608580"/>
            </a:xfrm>
            <a:custGeom>
              <a:avLst/>
              <a:gdLst/>
              <a:ahLst/>
              <a:cxnLst/>
              <a:rect r="r" b="b" t="t" l="l"/>
              <a:pathLst>
                <a:path h="2608580" w="4955540">
                  <a:moveTo>
                    <a:pt x="0" y="0"/>
                  </a:moveTo>
                  <a:lnTo>
                    <a:pt x="4955540" y="0"/>
                  </a:lnTo>
                  <a:lnTo>
                    <a:pt x="4955540" y="2608580"/>
                  </a:lnTo>
                  <a:lnTo>
                    <a:pt x="0" y="2608580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561695" y="2785358"/>
            <a:ext cx="339648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149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4 · OWNER GAINS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61695" y="3343513"/>
            <a:ext cx="339648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6900" spc="-75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RM8,450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61695" y="4105532"/>
            <a:ext cx="3396482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7.0 times what they paid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9200" y="5098628"/>
            <a:ext cx="98107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WIN BACK MORE OR LESS</a:t>
            </a:r>
          </a:p>
        </p:txBody>
      </p:sp>
      <p:graphicFrame>
        <p:nvGraphicFramePr>
          <p:cNvPr name="Table 27" id="27"/>
          <p:cNvGraphicFramePr>
            <a:graphicFrameLocks noGrp="true"/>
          </p:cNvGraphicFramePr>
          <p:nvPr/>
        </p:nvGraphicFramePr>
        <p:xfrm>
          <a:off x="1234440" y="5576762"/>
          <a:ext cx="9448800" cy="2838450"/>
        </p:xfrm>
        <a:graphic>
          <a:graphicData uri="http://schemas.openxmlformats.org/drawingml/2006/table">
            <a:tbl>
              <a:tblPr/>
              <a:tblGrid>
                <a:gridCol w="1897212"/>
                <a:gridCol w="2455197"/>
                <a:gridCol w="2083207"/>
                <a:gridCol w="3013184"/>
              </a:tblGrid>
              <a:tr h="9922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3EEE4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Won back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49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3EEE4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RM a year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49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3EEE4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Return (ROI)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49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B8A6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With admin time (ROV)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F"/>
                    </a:solidFill>
                  </a:tcPr>
                </a:tc>
              </a:tr>
              <a:tr h="6154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10%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3,860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2.2×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3D25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3.6×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1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54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25%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0A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0A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9,650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B0A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0A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0A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7.0×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B0A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0A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0A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3D25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8.5×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B0A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0A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0A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3FF"/>
                    </a:solidFill>
                  </a:tcPr>
                </a:tc>
              </a:tr>
              <a:tr h="6154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50%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0A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19,300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0A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14101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15.1×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0A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3149"/>
                        </a:lnSpc>
                        <a:defRPr/>
                      </a:pPr>
                      <a:r>
                        <a:rPr lang="en-US" sz="2250">
                          <a:solidFill>
                            <a:srgbClr val="3D25B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16.5×</a:t>
                      </a:r>
                      <a:endParaRPr lang="en-US" sz="1100"/>
                    </a:p>
                  </a:txBody>
                  <a:tcPr marL="66675" marR="66675" marT="66675" marB="66675" anchor="t">
                    <a:lnL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0A9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28" id="28"/>
          <p:cNvSpPr/>
          <p:nvPr/>
        </p:nvSpPr>
        <p:spPr>
          <a:xfrm rot="5336940">
            <a:off x="10334454" y="6155903"/>
            <a:ext cx="2076802" cy="0"/>
          </a:xfrm>
          <a:prstGeom prst="line">
            <a:avLst/>
          </a:prstGeom>
          <a:ln cap="rnd" w="19050">
            <a:solidFill>
              <a:srgbClr val="FF5B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1734800" y="5460578"/>
            <a:ext cx="549402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5"/>
              </a:lnSpc>
            </a:pPr>
            <a:r>
              <a:rPr lang="en-US" sz="11250" spc="-300">
                <a:solidFill>
                  <a:srgbClr val="C93A0B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3%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34800" y="6441653"/>
            <a:ext cx="549402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is all it takes. Winning back 3% of extras pays for the whole subscription.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9200" y="8436178"/>
            <a:ext cx="16325088" cy="3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6"/>
              </a:lnSpc>
            </a:pPr>
            <a:r>
              <a:rPr lang="en-US" sz="1693">
                <a:solidFill>
                  <a:srgbClr val="4A4458"/>
                </a:solidFill>
                <a:latin typeface="Arimo"/>
                <a:ea typeface="Arimo"/>
                <a:cs typeface="Arimo"/>
                <a:sym typeface="Arimo"/>
              </a:rPr>
              <a:t>Return = (money won back − RM1,200) ÷ RM1,200. With admin time also counts 20 hours saved at RM25.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9200" y="9321184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One simulated job, so the pilot measures the real rate. Hours and hourly rate are assumptions: appendix A.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794480" y="9309754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40733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09317"/>
            <a:ext cx="420624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WHO PAYS AND HOW BIG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757620"/>
            <a:ext cx="16325088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4"/>
              </a:lnSpc>
            </a:pPr>
            <a:r>
              <a:rPr lang="en-US" sz="5907" spc="-74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owner pays, because </a:t>
            </a:r>
            <a:r>
              <a:rPr lang="en-US" sz="5907" i="true" spc="-74">
                <a:solidFill>
                  <a:srgbClr val="3D25B8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it pays back.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9200" y="2675820"/>
            <a:ext cx="7887843" cy="35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5"/>
              </a:lnSpc>
            </a:pPr>
            <a:r>
              <a:rPr lang="en-US" sz="1681" spc="224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PER COMPANY, PER MONTH · CLIENTS NEVER PAY</a:t>
            </a:r>
          </a:p>
        </p:txBody>
      </p:sp>
      <p:sp>
        <p:nvSpPr>
          <p:cNvPr name="AutoShape 7" id="7"/>
          <p:cNvSpPr/>
          <p:nvPr/>
        </p:nvSpPr>
        <p:spPr>
          <a:xfrm rot="25440">
            <a:off x="1190520" y="3143955"/>
            <a:ext cx="7715460" cy="0"/>
          </a:xfrm>
          <a:prstGeom prst="line">
            <a:avLst/>
          </a:prstGeom>
          <a:ln cap="rnd" w="28575">
            <a:solidFill>
              <a:srgbClr val="3D25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447800" y="3411626"/>
            <a:ext cx="22669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405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Capture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67150" y="3411626"/>
            <a:ext cx="25527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4050">
                <a:solidFill>
                  <a:srgbClr val="3D25B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Free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72250" y="3480197"/>
            <a:ext cx="2152650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One job at a time. Find and list changes.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19200" y="4668812"/>
            <a:ext cx="7658100" cy="1405776"/>
            <a:chOff x="0" y="0"/>
            <a:chExt cx="10210800" cy="18743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10800" cy="1874393"/>
            </a:xfrm>
            <a:custGeom>
              <a:avLst/>
              <a:gdLst/>
              <a:ahLst/>
              <a:cxnLst/>
              <a:rect r="r" b="b" t="t" l="l"/>
              <a:pathLst>
                <a:path h="1874393" w="10210800">
                  <a:moveTo>
                    <a:pt x="0" y="0"/>
                  </a:moveTo>
                  <a:lnTo>
                    <a:pt x="10210800" y="0"/>
                  </a:lnTo>
                  <a:lnTo>
                    <a:pt x="10210800" y="1874393"/>
                  </a:lnTo>
                  <a:lnTo>
                    <a:pt x="0" y="1874393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AutoShape 13" id="13"/>
          <p:cNvSpPr/>
          <p:nvPr/>
        </p:nvSpPr>
        <p:spPr>
          <a:xfrm rot="25440">
            <a:off x="1190520" y="4683100"/>
            <a:ext cx="7715460" cy="0"/>
          </a:xfrm>
          <a:prstGeom prst="line">
            <a:avLst/>
          </a:prstGeom>
          <a:ln cap="rnd" w="28575">
            <a:solidFill>
              <a:srgbClr val="FF5B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447800" y="4950733"/>
            <a:ext cx="22669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405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Confirm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67150" y="4950733"/>
            <a:ext cx="25527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4050">
                <a:solidFill>
                  <a:srgbClr val="FF5B2E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RM100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72250" y="5019342"/>
            <a:ext cx="2152650" cy="1042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Approvals, client links, quote updates.</a:t>
            </a:r>
          </a:p>
        </p:txBody>
      </p:sp>
      <p:sp>
        <p:nvSpPr>
          <p:cNvPr name="AutoShape 17" id="17"/>
          <p:cNvSpPr/>
          <p:nvPr/>
        </p:nvSpPr>
        <p:spPr>
          <a:xfrm rot="25440">
            <a:off x="1190520" y="6222206"/>
            <a:ext cx="7715460" cy="0"/>
          </a:xfrm>
          <a:prstGeom prst="line">
            <a:avLst/>
          </a:prstGeom>
          <a:ln cap="rnd" w="28575">
            <a:solidFill>
              <a:srgbClr val="3D25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447800" y="6489868"/>
            <a:ext cx="22669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405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Settle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67150" y="6489868"/>
            <a:ext cx="25527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4050">
                <a:solidFill>
                  <a:srgbClr val="3D25B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RM250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72250" y="6558448"/>
            <a:ext cx="2152650" cy="72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All jobs, draft bills, CSV, suggestions.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10700" y="2656770"/>
            <a:ext cx="788784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MARKET, BOTTOM-UP · EVERY ASSUMPTION FLAGGED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410700" y="3157795"/>
            <a:ext cx="7239000" cy="742950"/>
            <a:chOff x="0" y="0"/>
            <a:chExt cx="9652000" cy="990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52000" cy="990600"/>
            </a:xfrm>
            <a:custGeom>
              <a:avLst/>
              <a:gdLst/>
              <a:ahLst/>
              <a:cxnLst/>
              <a:rect r="r" b="b" t="t" l="l"/>
              <a:pathLst>
                <a:path h="9906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3D25B8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601200" y="3414970"/>
            <a:ext cx="59664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TAM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69855" y="3348295"/>
            <a:ext cx="17800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405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RM153m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10700" y="3919795"/>
            <a:ext cx="7887843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About 128,000 project-based small firms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10700" y="4388425"/>
            <a:ext cx="4572000" cy="742950"/>
            <a:chOff x="0" y="0"/>
            <a:chExt cx="6096000" cy="990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96000" cy="990600"/>
            </a:xfrm>
            <a:custGeom>
              <a:avLst/>
              <a:gdLst/>
              <a:ahLst/>
              <a:cxnLst/>
              <a:rect r="r" b="b" t="t" l="l"/>
              <a:pathLst>
                <a:path h="990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C93A0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601200" y="4645600"/>
            <a:ext cx="59664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SAM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69855" y="4578925"/>
            <a:ext cx="154433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405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RM31m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10700" y="5150425"/>
            <a:ext cx="7887843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20% scope jobs over WhatsApp (assumption)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410700" y="5619045"/>
            <a:ext cx="2476500" cy="1257300"/>
            <a:chOff x="0" y="0"/>
            <a:chExt cx="3302000" cy="1676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3020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676400"/>
                  </a:lnTo>
                  <a:lnTo>
                    <a:pt x="0" y="1676400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601200" y="5876220"/>
            <a:ext cx="549945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SOM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46395" y="5809545"/>
            <a:ext cx="1526505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4050">
                <a:solidFill>
                  <a:srgbClr val="FFFFF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RM0.6m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10700" y="6895395"/>
            <a:ext cx="7887843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3D3650"/>
                </a:solidFill>
                <a:latin typeface="Arimo"/>
                <a:ea typeface="Arimo"/>
                <a:cs typeface="Arimo"/>
                <a:sym typeface="Arimo"/>
              </a:rPr>
              <a:t>2% of that in three years (assumption)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19200" y="7891577"/>
            <a:ext cx="15849600" cy="871423"/>
            <a:chOff x="0" y="0"/>
            <a:chExt cx="21132800" cy="116189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132800" cy="1161923"/>
            </a:xfrm>
            <a:custGeom>
              <a:avLst/>
              <a:gdLst/>
              <a:ahLst/>
              <a:cxnLst/>
              <a:rect r="r" b="b" t="t" l="l"/>
              <a:pathLst>
                <a:path h="1161923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1161923"/>
                  </a:lnTo>
                  <a:lnTo>
                    <a:pt x="0" y="1161923"/>
                  </a:lnTo>
                  <a:close/>
                </a:path>
              </a:pathLst>
            </a:custGeom>
            <a:solidFill>
              <a:srgbClr val="14101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38100"/>
              <a:ext cx="21132800" cy="112379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558"/>
                </a:lnSpc>
              </a:pPr>
              <a:r>
                <a:rPr lang="en-US" sz="3233" i="true">
                  <a:solidFill>
                    <a:srgbClr val="FF5B2E"/>
                  </a:solidFill>
                  <a:latin typeface="Instrument Serif Italics"/>
                  <a:ea typeface="Instrument Serif Italics"/>
                  <a:cs typeface="Instrument Serif Italics"/>
                  <a:sym typeface="Instrument Serif Italics"/>
                </a:rPr>
                <a:t>The test:</a:t>
              </a:r>
              <a:r>
                <a:rPr lang="en-US" sz="3233">
                  <a:solidFill>
                    <a:srgbClr val="F3EEE4"/>
                  </a:solidFill>
                  <a:latin typeface="Instrument Serif"/>
                  <a:ea typeface="Instrument Serif"/>
                  <a:cs typeface="Instrument Serif"/>
                  <a:sym typeface="Instrument Serif"/>
                </a:rPr>
                <a:t> win back about 3% of the extras and the subscription has paid for itself.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19200" y="9012545"/>
            <a:ext cx="14716125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Illustrative; the pilot measures the real rate. Survey (7 people): 4 chose the RM250 tier, 2 chose RM100. DOSM Census 2023 for the firm count; the rest are assumptions.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794480" y="9309754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3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168249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BUSINESS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691659"/>
            <a:ext cx="5088493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600" spc="-74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Business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02036" y="1896923"/>
            <a:ext cx="4966764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4A4458"/>
                </a:solidFill>
                <a:latin typeface="Arimo"/>
                <a:ea typeface="Arimo"/>
                <a:cs typeface="Arimo"/>
                <a:sym typeface="Arimo"/>
              </a:rPr>
              <a:t>B2B · freemium subscription (SaaS)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9200" y="3863359"/>
            <a:ext cx="5283165" cy="3143250"/>
            <a:chOff x="0" y="0"/>
            <a:chExt cx="7044220" cy="419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44182" cy="4191000"/>
            </a:xfrm>
            <a:custGeom>
              <a:avLst/>
              <a:gdLst/>
              <a:ahLst/>
              <a:cxnLst/>
              <a:rect r="r" b="b" t="t" l="l"/>
              <a:pathLst>
                <a:path h="4191000" w="7044182">
                  <a:moveTo>
                    <a:pt x="0" y="0"/>
                  </a:moveTo>
                  <a:lnTo>
                    <a:pt x="7044182" y="0"/>
                  </a:lnTo>
                  <a:lnTo>
                    <a:pt x="7044182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E6DFD0"/>
            </a:solidFill>
          </p:spPr>
        </p:sp>
      </p:grpSp>
      <p:sp>
        <p:nvSpPr>
          <p:cNvPr name="AutoShape 9" id="9"/>
          <p:cNvSpPr/>
          <p:nvPr/>
        </p:nvSpPr>
        <p:spPr>
          <a:xfrm rot="48900">
            <a:off x="1180833" y="3882409"/>
            <a:ext cx="5359898" cy="0"/>
          </a:xfrm>
          <a:prstGeom prst="line">
            <a:avLst/>
          </a:prstGeom>
          <a:ln cap="rnd" w="38100">
            <a:solidFill>
              <a:srgbClr val="A89F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543050" y="4244359"/>
            <a:ext cx="4774521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632" spc="225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CAPTURE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3050" y="4772025"/>
            <a:ext cx="4774521" cy="81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9"/>
              </a:lnSpc>
            </a:pPr>
            <a:r>
              <a:rPr lang="en-US" sz="7069" spc="-149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3050" y="5582507"/>
            <a:ext cx="4774521" cy="40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8"/>
              </a:lnSpc>
            </a:pPr>
            <a:r>
              <a:rPr lang="en-US" sz="1791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always free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3050" y="6020057"/>
            <a:ext cx="4774521" cy="738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059">
                <a:solidFill>
                  <a:srgbClr val="2E2940"/>
                </a:solidFill>
                <a:latin typeface="Arimo"/>
                <a:ea typeface="Arimo"/>
                <a:cs typeface="Arimo"/>
                <a:sym typeface="Arimo"/>
              </a:rPr>
              <a:t>One job at a time. Find and list every change.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02365" y="3291859"/>
            <a:ext cx="5283279" cy="3714750"/>
            <a:chOff x="0" y="0"/>
            <a:chExt cx="7044372" cy="4953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44309" cy="4953000"/>
            </a:xfrm>
            <a:custGeom>
              <a:avLst/>
              <a:gdLst/>
              <a:ahLst/>
              <a:cxnLst/>
              <a:rect r="r" b="b" t="t" l="l"/>
              <a:pathLst>
                <a:path h="4953000" w="7044309">
                  <a:moveTo>
                    <a:pt x="0" y="0"/>
                  </a:moveTo>
                  <a:lnTo>
                    <a:pt x="7044309" y="0"/>
                  </a:lnTo>
                  <a:lnTo>
                    <a:pt x="7044309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DCD3FF"/>
            </a:solidFill>
          </p:spPr>
        </p:sp>
      </p:grpSp>
      <p:sp>
        <p:nvSpPr>
          <p:cNvPr name="AutoShape 16" id="16"/>
          <p:cNvSpPr/>
          <p:nvPr/>
        </p:nvSpPr>
        <p:spPr>
          <a:xfrm rot="48900">
            <a:off x="6463989" y="3310909"/>
            <a:ext cx="5360022" cy="0"/>
          </a:xfrm>
          <a:prstGeom prst="line">
            <a:avLst/>
          </a:prstGeom>
          <a:ln cap="rnd" w="38100">
            <a:solidFill>
              <a:srgbClr val="3D25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6826215" y="3644284"/>
            <a:ext cx="477464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CONFIRM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26215" y="4259570"/>
            <a:ext cx="4774644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800" spc="-150">
                <a:solidFill>
                  <a:srgbClr val="3D25B8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RM100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26215" y="5135870"/>
            <a:ext cx="4774644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3A3550"/>
                </a:solidFill>
                <a:latin typeface="Arimo"/>
                <a:ea typeface="Arimo"/>
                <a:cs typeface="Arimo"/>
                <a:sym typeface="Arimo"/>
              </a:rPr>
              <a:t>per company, per month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26215" y="5596909"/>
            <a:ext cx="477464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2E2940"/>
                </a:solidFill>
                <a:latin typeface="Arimo"/>
                <a:ea typeface="Arimo"/>
                <a:cs typeface="Arimo"/>
                <a:sym typeface="Arimo"/>
              </a:rPr>
              <a:t>Approvals, client links, quote updates to the group.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785635" y="2720359"/>
            <a:ext cx="5283165" cy="4286250"/>
            <a:chOff x="0" y="0"/>
            <a:chExt cx="7044220" cy="5715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44182" cy="5715000"/>
            </a:xfrm>
            <a:custGeom>
              <a:avLst/>
              <a:gdLst/>
              <a:ahLst/>
              <a:cxnLst/>
              <a:rect r="r" b="b" t="t" l="l"/>
              <a:pathLst>
                <a:path h="5715000" w="7044182">
                  <a:moveTo>
                    <a:pt x="0" y="0"/>
                  </a:moveTo>
                  <a:lnTo>
                    <a:pt x="7044182" y="0"/>
                  </a:lnTo>
                  <a:lnTo>
                    <a:pt x="7044182" y="5715000"/>
                  </a:lnTo>
                  <a:lnTo>
                    <a:pt x="0" y="5715000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AutoShape 23" id="23"/>
          <p:cNvSpPr/>
          <p:nvPr/>
        </p:nvSpPr>
        <p:spPr>
          <a:xfrm rot="48900">
            <a:off x="11747268" y="2739409"/>
            <a:ext cx="5359898" cy="0"/>
          </a:xfrm>
          <a:prstGeom prst="line">
            <a:avLst/>
          </a:prstGeom>
          <a:ln cap="rnd" w="38100">
            <a:solidFill>
              <a:srgbClr val="FF5B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2109485" y="3072784"/>
            <a:ext cx="477452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SETTLE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09485" y="3688070"/>
            <a:ext cx="4774521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800" spc="-150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RM250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09485" y="4564370"/>
            <a:ext cx="4774521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A59DC0"/>
                </a:solidFill>
                <a:latin typeface="Arimo"/>
                <a:ea typeface="Arimo"/>
                <a:cs typeface="Arimo"/>
                <a:sym typeface="Arimo"/>
              </a:rPr>
              <a:t>per company, per month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09485" y="5025409"/>
            <a:ext cx="477452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D9D2EE"/>
                </a:solidFill>
                <a:latin typeface="Arimo"/>
                <a:ea typeface="Arimo"/>
                <a:cs typeface="Arimo"/>
                <a:sym typeface="Arimo"/>
              </a:rPr>
              <a:t>All jobs. Draft bills, CSV, suggestions, log export.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9200" y="7700029"/>
            <a:ext cx="8829675" cy="110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200" i="true" spc="-74">
                <a:solidFill>
                  <a:srgbClr val="14101F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Free to start.</a:t>
            </a:r>
            <a:r>
              <a:rPr lang="en-US" sz="4200" spc="-74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It pays for itself with the first extra it recovers.</a:t>
            </a:r>
          </a:p>
        </p:txBody>
      </p:sp>
      <p:sp>
        <p:nvSpPr>
          <p:cNvPr name="AutoShape 29" id="29"/>
          <p:cNvSpPr/>
          <p:nvPr/>
        </p:nvSpPr>
        <p:spPr>
          <a:xfrm rot="9780">
            <a:off x="10391765" y="7297122"/>
            <a:ext cx="6686579" cy="0"/>
          </a:xfrm>
          <a:prstGeom prst="line">
            <a:avLst/>
          </a:prstGeom>
          <a:ln cap="rnd" w="9525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10401300" y="7393324"/>
            <a:ext cx="6867525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B2B:</a:t>
            </a:r>
            <a:r>
              <a:rPr lang="en-US" sz="21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 businesses pay. Their clients never do.</a:t>
            </a:r>
          </a:p>
        </p:txBody>
      </p:sp>
      <p:sp>
        <p:nvSpPr>
          <p:cNvPr name="AutoShape 31" id="31"/>
          <p:cNvSpPr/>
          <p:nvPr/>
        </p:nvSpPr>
        <p:spPr>
          <a:xfrm rot="9780">
            <a:off x="10391765" y="7887672"/>
            <a:ext cx="6686579" cy="0"/>
          </a:xfrm>
          <a:prstGeom prst="line">
            <a:avLst/>
          </a:prstGeom>
          <a:ln cap="rnd" w="9525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10401300" y="7983874"/>
            <a:ext cx="6867525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Channel:</a:t>
            </a:r>
            <a:r>
              <a:rPr lang="en-US" sz="210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 Orbyte, then event associations. Option: usage credits.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9200" y="9321184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Launch prices, validated with owners in the pilot.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794480" y="9309754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080973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949528"/>
            <a:ext cx="168249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BUSINESS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1622003"/>
            <a:ext cx="3911060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600" spc="-74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Who it is for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67210" y="1453867"/>
            <a:ext cx="5101590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4A4458"/>
                </a:solidFill>
                <a:latin typeface="Arimo"/>
                <a:ea typeface="Arimo"/>
                <a:cs typeface="Arimo"/>
                <a:sym typeface="Arimo"/>
              </a:rPr>
              <a:t>Micro and small businesses that run on WhatsApp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9200" y="2610221"/>
            <a:ext cx="3916442" cy="2609850"/>
            <a:chOff x="0" y="0"/>
            <a:chExt cx="5221922" cy="3479800"/>
          </a:xfrm>
        </p:grpSpPr>
        <p:sp>
          <p:nvSpPr>
            <p:cNvPr name="Freeform 8" id="8" descr="An event hall with round dinner tables"/>
            <p:cNvSpPr/>
            <p:nvPr/>
          </p:nvSpPr>
          <p:spPr>
            <a:xfrm flipH="false" flipV="false" rot="0">
              <a:off x="0" y="0"/>
              <a:ext cx="5221859" cy="3479800"/>
            </a:xfrm>
            <a:custGeom>
              <a:avLst/>
              <a:gdLst/>
              <a:ahLst/>
              <a:cxnLst/>
              <a:rect r="r" b="b" t="t" l="l"/>
              <a:pathLst>
                <a:path h="3479800" w="5221859">
                  <a:moveTo>
                    <a:pt x="0" y="0"/>
                  </a:moveTo>
                  <a:lnTo>
                    <a:pt x="5221859" y="0"/>
                  </a:lnTo>
                  <a:lnTo>
                    <a:pt x="5221859" y="3479800"/>
                  </a:lnTo>
                  <a:lnTo>
                    <a:pt x="0" y="347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" b="0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 rot="15300">
            <a:off x="1200112" y="5401046"/>
            <a:ext cx="8547221" cy="0"/>
          </a:xfrm>
          <a:prstGeom prst="line">
            <a:avLst/>
          </a:prstGeom>
          <a:ln cap="rnd" w="19050">
            <a:solidFill>
              <a:srgbClr val="FF5B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219200" y="5524871"/>
            <a:ext cx="8764314" cy="37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2"/>
              </a:lnSpc>
            </a:pPr>
            <a:r>
              <a:rPr lang="en-US" sz="1738" spc="225">
                <a:solidFill>
                  <a:srgbClr val="C93A0B"/>
                </a:solidFill>
                <a:latin typeface="Roboto Mono"/>
                <a:ea typeface="Roboto Mono"/>
                <a:cs typeface="Roboto Mono"/>
                <a:sym typeface="Roboto Mono"/>
              </a:rPr>
              <a:t>START HERE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200" y="5987653"/>
            <a:ext cx="8764314" cy="55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4"/>
              </a:lnSpc>
            </a:pPr>
            <a:r>
              <a:rPr lang="en-US" sz="4515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Event companies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9200" y="6533931"/>
            <a:ext cx="8764314" cy="392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1989">
                <a:solidFill>
                  <a:srgbClr val="4A4458"/>
                </a:solidFill>
                <a:latin typeface="Arimo"/>
                <a:ea typeface="Arimo"/>
                <a:cs typeface="Arimo"/>
                <a:sym typeface="Arimo"/>
              </a:rPr>
              <a:t>Dinners, launches, weddings. Changes fly in WhatsApp.</a:t>
            </a:r>
          </a:p>
        </p:txBody>
      </p:sp>
      <p:sp>
        <p:nvSpPr>
          <p:cNvPr name="AutoShape 13" id="13"/>
          <p:cNvSpPr/>
          <p:nvPr/>
        </p:nvSpPr>
        <p:spPr>
          <a:xfrm rot="19140">
            <a:off x="10242537" y="2619746"/>
            <a:ext cx="6845370" cy="0"/>
          </a:xfrm>
          <a:prstGeom prst="line">
            <a:avLst/>
          </a:prstGeom>
          <a:ln cap="rnd" w="19050">
            <a:solidFill>
              <a:srgbClr val="3D25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261635" y="2734046"/>
            <a:ext cx="701137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61635" y="3244567"/>
            <a:ext cx="7011372" cy="57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Renovation, contractors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61635" y="3809181"/>
            <a:ext cx="7011372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4A4458"/>
                </a:solidFill>
                <a:latin typeface="Arimo"/>
                <a:ea typeface="Arimo"/>
                <a:cs typeface="Arimo"/>
                <a:sym typeface="Arimo"/>
              </a:rPr>
              <a:t>Same flow: extras agreed on site, then argued.</a:t>
            </a:r>
          </a:p>
        </p:txBody>
      </p:sp>
      <p:sp>
        <p:nvSpPr>
          <p:cNvPr name="AutoShape 17" id="17"/>
          <p:cNvSpPr/>
          <p:nvPr/>
        </p:nvSpPr>
        <p:spPr>
          <a:xfrm rot="19140">
            <a:off x="10242537" y="5323656"/>
            <a:ext cx="6845370" cy="0"/>
          </a:xfrm>
          <a:prstGeom prst="line">
            <a:avLst/>
          </a:prstGeom>
          <a:ln cap="rnd" w="19050">
            <a:solidFill>
              <a:srgbClr val="3D25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0261635" y="5437956"/>
            <a:ext cx="701137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THEN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61635" y="5948477"/>
            <a:ext cx="7011372" cy="57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Agencies, print, IT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61635" y="6513090"/>
            <a:ext cx="7011372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4A4458"/>
                </a:solidFill>
                <a:latin typeface="Arimo"/>
                <a:ea typeface="Arimo"/>
                <a:cs typeface="Arimo"/>
                <a:sym typeface="Arimo"/>
              </a:rPr>
              <a:t>Any team that bills by the job and scopes in chat.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19200" y="7383666"/>
            <a:ext cx="5283165" cy="1379334"/>
            <a:chOff x="0" y="0"/>
            <a:chExt cx="7044220" cy="18391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44182" cy="1839087"/>
            </a:xfrm>
            <a:custGeom>
              <a:avLst/>
              <a:gdLst/>
              <a:ahLst/>
              <a:cxnLst/>
              <a:rect r="r" b="b" t="t" l="l"/>
              <a:pathLst>
                <a:path h="1839087" w="7044182">
                  <a:moveTo>
                    <a:pt x="0" y="0"/>
                  </a:moveTo>
                  <a:lnTo>
                    <a:pt x="7044182" y="0"/>
                  </a:lnTo>
                  <a:lnTo>
                    <a:pt x="7044182" y="1839087"/>
                  </a:lnTo>
                  <a:lnTo>
                    <a:pt x="0" y="1839087"/>
                  </a:lnTo>
                  <a:close/>
                </a:path>
              </a:pathLst>
            </a:custGeom>
            <a:solidFill>
              <a:srgbClr val="14101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85900" y="7564641"/>
            <a:ext cx="4892250" cy="36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5"/>
              </a:lnSpc>
            </a:pPr>
            <a:r>
              <a:rPr lang="en-US" sz="1681" spc="224">
                <a:solidFill>
                  <a:srgbClr val="FF5B2E"/>
                </a:solidFill>
                <a:latin typeface="Roboto Mono"/>
                <a:ea typeface="Roboto Mono"/>
                <a:cs typeface="Roboto Mono"/>
                <a:sym typeface="Roboto Mono"/>
              </a:rPr>
              <a:t>BUYER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85900" y="7871222"/>
            <a:ext cx="4892250" cy="720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2109" b="true">
                <a:solidFill>
                  <a:srgbClr val="F3EEE4"/>
                </a:solidFill>
                <a:latin typeface="Arimo Bold"/>
                <a:ea typeface="Arimo Bold"/>
                <a:cs typeface="Arimo Bold"/>
                <a:sym typeface="Arimo Bold"/>
              </a:rPr>
              <a:t>The owner.</a:t>
            </a:r>
            <a:r>
              <a:rPr lang="en-US" sz="2109">
                <a:solidFill>
                  <a:srgbClr val="F3EEE4"/>
                </a:solidFill>
                <a:latin typeface="Arimo"/>
                <a:ea typeface="Arimo"/>
                <a:cs typeface="Arimo"/>
                <a:sym typeface="Arimo"/>
              </a:rPr>
              <a:t> Loses money to unbilled extras.</a:t>
            </a:r>
          </a:p>
        </p:txBody>
      </p:sp>
      <p:sp>
        <p:nvSpPr>
          <p:cNvPr name="AutoShape 25" id="25"/>
          <p:cNvSpPr/>
          <p:nvPr/>
        </p:nvSpPr>
        <p:spPr>
          <a:xfrm rot="25920">
            <a:off x="6749939" y="7393191"/>
            <a:ext cx="5054822" cy="0"/>
          </a:xfrm>
          <a:prstGeom prst="line">
            <a:avLst/>
          </a:prstGeom>
          <a:ln cap="rnd" w="19050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6769065" y="7545591"/>
            <a:ext cx="489237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DAILY USER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69065" y="7884690"/>
            <a:ext cx="4892373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The project manager.</a:t>
            </a: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 Chases details across chats.</a:t>
            </a:r>
          </a:p>
        </p:txBody>
      </p:sp>
      <p:sp>
        <p:nvSpPr>
          <p:cNvPr name="AutoShape 28" id="28"/>
          <p:cNvSpPr/>
          <p:nvPr/>
        </p:nvSpPr>
        <p:spPr>
          <a:xfrm rot="25920">
            <a:off x="12033218" y="7393191"/>
            <a:ext cx="5054708" cy="0"/>
          </a:xfrm>
          <a:prstGeom prst="line">
            <a:avLst/>
          </a:prstGeom>
          <a:ln cap="rnd" w="19050">
            <a:solidFill>
              <a:srgbClr val="14101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2052335" y="7545591"/>
            <a:ext cx="48922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3D25B8"/>
                </a:solidFill>
                <a:latin typeface="Roboto Mono"/>
                <a:ea typeface="Roboto Mono"/>
                <a:cs typeface="Roboto Mono"/>
                <a:sym typeface="Roboto Mono"/>
              </a:rPr>
              <a:t>TOUCHPOINT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52335" y="7884690"/>
            <a:ext cx="4892250" cy="42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 b="true">
                <a:solidFill>
                  <a:srgbClr val="14101F"/>
                </a:solidFill>
                <a:latin typeface="Arimo Bold"/>
                <a:ea typeface="Arimo Bold"/>
                <a:cs typeface="Arimo Bold"/>
                <a:sym typeface="Arimo Bold"/>
              </a:rPr>
              <a:t>The client.</a:t>
            </a:r>
            <a:r>
              <a:rPr lang="en-US" sz="2250">
                <a:solidFill>
                  <a:srgbClr val="14101F"/>
                </a:solidFill>
                <a:latin typeface="Arimo"/>
                <a:ea typeface="Arimo"/>
                <a:cs typeface="Arimo"/>
                <a:sym typeface="Arimo"/>
              </a:rPr>
              <a:t> Taps a link. No login.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9200" y="9321184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B6478"/>
                </a:solidFill>
                <a:latin typeface="Arimo"/>
                <a:ea typeface="Arimo"/>
                <a:cs typeface="Arimo"/>
                <a:sym typeface="Arimo"/>
              </a:rPr>
              <a:t>Photo: Unsplash.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794480" y="9309754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solidFill>
          <a:srgbClr val="14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150630"/>
            <a:ext cx="152400" cy="152400"/>
            <a:chOff x="0" y="0"/>
            <a:chExt cx="2032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F5B2E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000" y="1019175"/>
            <a:ext cx="988466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00">
                <a:solidFill>
                  <a:srgbClr val="B8A6FF"/>
                </a:solidFill>
                <a:latin typeface="Roboto Mono"/>
                <a:ea typeface="Roboto Mono"/>
                <a:cs typeface="Roboto Mono"/>
                <a:sym typeface="Roboto Mono"/>
              </a:rPr>
              <a:t>11 PM · A TUESDAY · THE EVENT TEAM'S GROUP CHAT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19200" y="3104445"/>
            <a:ext cx="7239000" cy="2118360"/>
            <a:chOff x="0" y="0"/>
            <a:chExt cx="9652000" cy="2824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52000" cy="2824480"/>
            </a:xfrm>
            <a:custGeom>
              <a:avLst/>
              <a:gdLst/>
              <a:ahLst/>
              <a:cxnLst/>
              <a:rect r="r" b="b" t="t" l="l"/>
              <a:pathLst>
                <a:path h="2824480" w="9652000">
                  <a:moveTo>
                    <a:pt x="558800" y="0"/>
                  </a:moveTo>
                  <a:lnTo>
                    <a:pt x="9093200" y="0"/>
                  </a:lnTo>
                  <a:cubicBezTo>
                    <a:pt x="9401810" y="0"/>
                    <a:pt x="9652000" y="250190"/>
                    <a:pt x="9652000" y="558800"/>
                  </a:cubicBezTo>
                  <a:lnTo>
                    <a:pt x="9652000" y="2265680"/>
                  </a:lnTo>
                  <a:cubicBezTo>
                    <a:pt x="9652000" y="2574290"/>
                    <a:pt x="9401810" y="2824480"/>
                    <a:pt x="9093200" y="2824480"/>
                  </a:cubicBezTo>
                  <a:lnTo>
                    <a:pt x="101600" y="2824480"/>
                  </a:lnTo>
                  <a:cubicBezTo>
                    <a:pt x="45466" y="2824480"/>
                    <a:pt x="0" y="2779014"/>
                    <a:pt x="0" y="2722880"/>
                  </a:cubicBezTo>
                  <a:lnTo>
                    <a:pt x="0" y="558800"/>
                  </a:lnTo>
                  <a:cubicBezTo>
                    <a:pt x="0" y="250190"/>
                    <a:pt x="250190" y="0"/>
                    <a:pt x="558800" y="0"/>
                  </a:cubicBezTo>
                  <a:close/>
                </a:path>
              </a:pathLst>
            </a:custGeom>
            <a:solidFill>
              <a:srgbClr val="F3EEE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38300" y="3390195"/>
            <a:ext cx="6592824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6B6478"/>
                </a:solidFill>
                <a:latin typeface="Roboto Mono"/>
                <a:ea typeface="Roboto Mono"/>
                <a:cs typeface="Roboto Mono"/>
                <a:sym typeface="Roboto Mono"/>
              </a:rPr>
              <a:t>Client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8300" y="4003586"/>
            <a:ext cx="659282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8250">
                <a:solidFill>
                  <a:srgbClr val="14101F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"Ok, go ahead."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9200" y="7054710"/>
            <a:ext cx="16325088" cy="1746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6"/>
              </a:lnSpc>
            </a:pPr>
            <a:r>
              <a:rPr lang="en-US" sz="6900" spc="-75">
                <a:solidFill>
                  <a:srgbClr val="F3EEE4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Three words. A bigger LED wall.</a:t>
            </a:r>
          </a:p>
          <a:p>
            <a:pPr algn="l">
              <a:lnSpc>
                <a:spcPts val="7176"/>
              </a:lnSpc>
            </a:pPr>
            <a:r>
              <a:rPr lang="en-US" sz="6900" i="true" spc="-75">
                <a:solidFill>
                  <a:srgbClr val="FF5B2E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Nobody wrote it down.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9200" y="9321184"/>
            <a:ext cx="14716125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A59DC0"/>
                </a:solidFill>
                <a:latin typeface="Arimo"/>
                <a:ea typeface="Arimo"/>
                <a:cs typeface="Arimo"/>
                <a:sym typeface="Arimo"/>
              </a:rPr>
              <a:t>Synthetic example, from a team member's experience at an event company.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94480" y="9309754"/>
            <a:ext cx="350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A59DC0"/>
                </a:solidFill>
                <a:latin typeface="Roboto Mono"/>
                <a:ea typeface="Roboto Mono"/>
                <a:cs typeface="Roboto Mono"/>
                <a:sym typeface="Roboto Mono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DAHZkVYJqzU</dc:identifier>
  <dcterms:modified xsi:type="dcterms:W3CDTF">2011-08-01T06:04:30Z</dcterms:modified>
  <cp:revision>1</cp:revision>
  <dc:title>SMErgers finals pitch, Team VBall.pptx</dc:title>
</cp:coreProperties>
</file>